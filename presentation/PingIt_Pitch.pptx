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F2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182880"/>
            <a:ext cx="2377440" cy="2377440"/>
          </a:xfrm>
          <a:prstGeom prst="ellipse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NETWORK-QUALITY SDK  ·  FOR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8686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1" i="0">
                <a:solidFill>
                  <a:srgbClr val="261D17"/>
                </a:solidFill>
                <a:latin typeface="Arial"/>
              </a:rPr>
              <a:t>PingIt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3108960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8778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C24E17"/>
                </a:solidFill>
                <a:latin typeface="Arial"/>
              </a:rPr>
              <a:t>Know the network before your app needs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A7C6E"/>
                </a:solidFill>
                <a:latin typeface="Arial"/>
              </a:rPr>
              <a:t>A 4-minute intro for the developers who'd build with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1D17"/>
                </a:solidFill>
                <a:latin typeface="Arial"/>
              </a:rPr>
              <a:t>Your app can't tell if the connection can handle what the user is about to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8A7C6E"/>
                </a:solidFill>
                <a:latin typeface="Arial"/>
              </a:rPr>
              <a:t>So the video call freezes. The upload dies at 80%. The stream buffers. The live goes down in front of an audience.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806440"/>
            <a:ext cx="2011680" cy="128016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IDEA, IN 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61D17"/>
                </a:solidFill>
                <a:latin typeface="Arial"/>
              </a:rPr>
              <a:t>You ask about the activity. PingIt answers yes or no.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6949440" cy="1051560"/>
          </a:xfrm>
          <a:prstGeom prst="rect">
            <a:avLst/>
          </a:prstGeom>
          <a:solidFill>
            <a:srgbClr val="261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2400" b="1">
                <a:solidFill>
                  <a:srgbClr val="FBF3E9"/>
                </a:solidFill>
                <a:latin typeface="Consolas"/>
              </a:rPr>
              <a:t>pingIt.isReadyFor( VIDEO_CALL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2651760"/>
            <a:ext cx="822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ED6A2C"/>
                </a:solidFill>
                <a:latin typeface="Arial"/>
              </a:rPr>
              <a:t>-&gt;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761488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READY  -  go ahead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246120"/>
            <a:ext cx="3291840" cy="40233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61D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61D17"/>
                </a:solidFill>
                <a:latin typeface="Arial"/>
              </a:rPr>
              <a:t>NOT READY  -  latency too 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8A7C6E"/>
                </a:solidFill>
                <a:latin typeface="Arial"/>
              </a:rPr>
              <a:t>No megabit math. No guessing what "good enough" means. One call, a clear answer, and the reason when it fails.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THE PROFILES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61D17"/>
                </a:solidFill>
                <a:latin typeface="Arial"/>
              </a:rPr>
              <a:t>Ask about what the user is doing, not about megabits.</a:t>
            </a:r>
          </a:p>
          <a:p>
            <a:pPr algn="l"/>
            <a:r>
              <a:rPr sz="1800" b="0" i="0">
                <a:solidFill>
                  <a:srgbClr val="8A7C6E"/>
                </a:solidFill>
                <a:latin typeface="Arial"/>
              </a:rPr>
              <a:t>Pick from named use cases. We keep the thresholds tuned for you, server-side.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26664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9718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MESSAGING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any working link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5655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4050791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VIDEO CALL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smooth two-way video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184647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5129783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HD &amp; 4K STREAMING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play without buffering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026664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29718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CLOUD GAMING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ultra-low 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4105655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4050791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GOING LIVE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strong, steady upload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5184647"/>
            <a:ext cx="82296" cy="566928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5129783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261D17"/>
                </a:solidFill>
                <a:latin typeface="Arial"/>
              </a:rPr>
              <a:t>BIG UPLOAD / BACKUP</a:t>
            </a:r>
          </a:p>
          <a:p>
            <a:pPr algn="l"/>
            <a:r>
              <a:rPr sz="1400" b="0" i="0">
                <a:solidFill>
                  <a:srgbClr val="8A7C6E"/>
                </a:solidFill>
                <a:latin typeface="Arial"/>
              </a:rPr>
              <a:t>finish large transfers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BEHIND IT: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61D17"/>
                </a:solidFill>
                <a:latin typeface="Arial"/>
              </a:rPr>
              <a:t>Tune the profiles live. No app update.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A7C6E"/>
                </a:solidFill>
                <a:latin typeface="Arial"/>
              </a:rPr>
              <a:t>An operator manages thresholds, apps, and health in a web dashboard. Devices pick up the changes on their 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6126480" cy="3977639"/>
          </a:xfrm>
          <a:prstGeom prst="rect">
            <a:avLst/>
          </a:prstGeom>
          <a:solidFill>
            <a:srgbClr val="FFFFFF"/>
          </a:solidFill>
          <a:ln w="15875">
            <a:solidFill>
              <a:srgbClr val="E2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6126480" cy="310896"/>
          </a:xfrm>
          <a:prstGeom prst="rect">
            <a:avLst/>
          </a:prstGeom>
          <a:solidFill>
            <a:srgbClr val="261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606040"/>
            <a:ext cx="118872" cy="118872"/>
          </a:xfrm>
          <a:prstGeom prst="ellipse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3000" y="2606040"/>
            <a:ext cx="118872" cy="118872"/>
          </a:xfrm>
          <a:prstGeom prst="ellipse">
            <a:avLst/>
          </a:prstGeom>
          <a:solidFill>
            <a:srgbClr val="F2C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4168" y="2606040"/>
            <a:ext cx="118872" cy="118872"/>
          </a:xfrm>
          <a:prstGeom prst="ellipse">
            <a:avLst/>
          </a:prstGeom>
          <a:solidFill>
            <a:srgbClr val="9C8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91640" y="25557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BF3E9"/>
                </a:solidFill>
                <a:latin typeface="Arial"/>
              </a:rPr>
              <a:t>PingIt  · 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25496"/>
            <a:ext cx="1600200" cy="3666744"/>
          </a:xfrm>
          <a:prstGeom prst="rect">
            <a:avLst/>
          </a:prstGeom>
          <a:solidFill>
            <a:srgbClr val="F2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099815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1D17"/>
                </a:solidFill>
                <a:latin typeface="Arial"/>
              </a:rPr>
              <a:t>Dashboard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621024"/>
            <a:ext cx="73152" cy="402336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0392" y="3621024"/>
            <a:ext cx="1527048" cy="402336"/>
          </a:xfrm>
          <a:prstGeom prst="rect">
            <a:avLst/>
          </a:prstGeom>
          <a:solidFill>
            <a:srgbClr val="EEDD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3666744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24E17"/>
                </a:solidFill>
                <a:latin typeface="Arial"/>
              </a:rPr>
              <a:t>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233672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1D17"/>
                </a:solidFill>
                <a:latin typeface="Arial"/>
              </a:rPr>
              <a:t>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4800600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1D17"/>
                </a:solidFill>
                <a:latin typeface="Arial"/>
              </a:rPr>
              <a:t>Apps &amp;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367527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1D17"/>
                </a:solidFill>
                <a:latin typeface="Arial"/>
              </a:rPr>
              <a:t>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934456"/>
            <a:ext cx="1289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61D17"/>
                </a:solidFill>
                <a:latin typeface="Arial"/>
              </a:rPr>
              <a:t>Crashes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88036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 spc="180">
                <a:solidFill>
                  <a:srgbClr val="8A7C6E"/>
                </a:solidFill>
                <a:latin typeface="Arial"/>
              </a:rPr>
              <a:t>PROFILES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33472" y="3209544"/>
            <a:ext cx="4023360" cy="3099815"/>
          </a:xfrm>
          <a:prstGeom prst="rect">
            <a:avLst/>
          </a:prstGeom>
          <a:solidFill>
            <a:srgbClr val="FBF3E9"/>
          </a:solidFill>
          <a:ln w="12700">
            <a:solidFill>
              <a:srgbClr val="E7D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3355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61D17"/>
                </a:solidFill>
                <a:latin typeface="Arial"/>
              </a:rPr>
              <a:t>VIDEO CALL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88152" y="3374136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2928" y="3867911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D17"/>
                </a:solidFill>
                <a:latin typeface="Arial"/>
              </a:rPr>
              <a:t>Download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9512" y="3858768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7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 rIns="76200"/>
          <a:lstStyle/>
          <a:p>
            <a:pPr algn="ctr"/>
            <a:r>
              <a:rPr sz="1300" b="1">
                <a:solidFill>
                  <a:srgbClr val="261D17"/>
                </a:solidFill>
                <a:latin typeface="Consolas"/>
              </a:rPr>
              <a:t>1.5 Mbps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52928" y="432511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D17"/>
                </a:solidFill>
                <a:latin typeface="Arial"/>
              </a:rPr>
              <a:t>Upload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39512" y="4315968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7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 rIns="76200"/>
          <a:lstStyle/>
          <a:p>
            <a:pPr algn="ctr"/>
            <a:r>
              <a:rPr sz="1300" b="1">
                <a:solidFill>
                  <a:srgbClr val="261D17"/>
                </a:solidFill>
                <a:latin typeface="Consolas"/>
              </a:rPr>
              <a:t>1.0 Mbps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52928" y="478231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D17"/>
                </a:solidFill>
                <a:latin typeface="Arial"/>
              </a:rPr>
              <a:t>Latency max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39512" y="4773168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7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 rIns="76200"/>
          <a:lstStyle/>
          <a:p>
            <a:pPr algn="ctr"/>
            <a:r>
              <a:rPr sz="1300" b="1">
                <a:solidFill>
                  <a:srgbClr val="261D17"/>
                </a:solidFill>
                <a:latin typeface="Consolas"/>
              </a:rPr>
              <a:t>200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2928" y="523951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D17"/>
                </a:solidFill>
                <a:latin typeface="Arial"/>
              </a:rPr>
              <a:t>Jitter max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39512" y="5230368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7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 rIns="76200"/>
          <a:lstStyle/>
          <a:p>
            <a:pPr algn="ctr"/>
            <a:r>
              <a:rPr sz="1300" b="1">
                <a:solidFill>
                  <a:srgbClr val="261D17"/>
                </a:solidFill>
                <a:latin typeface="Consolas"/>
              </a:rPr>
              <a:t>40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52928" y="5742431"/>
            <a:ext cx="1645920" cy="402336"/>
          </a:xfrm>
          <a:prstGeom prst="roundRect">
            <a:avLst>
              <a:gd name="adj" fmla="val 50000"/>
            </a:avLst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Save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5760719"/>
            <a:ext cx="18745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7C6E"/>
                </a:solidFill>
                <a:latin typeface="Consolas"/>
              </a:rPr>
              <a:t>-&gt; now version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54203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61D17"/>
                </a:solidFill>
                <a:latin typeface="Arial"/>
              </a:rPr>
              <a:t>What you manage here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3264408"/>
            <a:ext cx="146304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320040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1D17"/>
                </a:solidFill>
                <a:latin typeface="Arial"/>
              </a:rPr>
              <a:t>Tune profile thresholds - no app release needed.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3813048"/>
            <a:ext cx="146304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44383" y="3749039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1D17"/>
                </a:solidFill>
                <a:latin typeface="Arial"/>
              </a:rPr>
              <a:t>Register apps and issue an appId.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4361688"/>
            <a:ext cx="146304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4383" y="429768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1D17"/>
                </a:solidFill>
                <a:latin typeface="Arial"/>
              </a:rPr>
              <a:t>Watch live analytics and device history.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4910328"/>
            <a:ext cx="146304" cy="146304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44383" y="484632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1D17"/>
                </a:solidFill>
                <a:latin typeface="Arial"/>
              </a:rPr>
              <a:t>See crash reports as they arrive.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5532120"/>
            <a:ext cx="91440" cy="822960"/>
          </a:xfrm>
          <a:prstGeom prst="rect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06640" y="5532120"/>
            <a:ext cx="4297680" cy="822960"/>
          </a:xfrm>
          <a:prstGeom prst="rect">
            <a:avLst/>
          </a:prstGeom>
          <a:solidFill>
            <a:srgbClr val="F2E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44383" y="5660136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61D17"/>
                </a:solidFill>
                <a:latin typeface="Arial"/>
              </a:rPr>
              <a:t>Change what "ready" means from here - every device follows, no update.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HOW YOU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61D17"/>
                </a:solidFill>
                <a:latin typeface="Arial"/>
              </a:rPr>
              <a:t>Three steps. That's the whole integration.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60604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Add the SDK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Arial"/>
              </a:rPr>
              <a:t>It starts itself on app launch. No setup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84048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Ask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Consolas"/>
              </a:rPr>
              <a:t>pingIt.isReadyFor(Profile.VIDEO_CALL)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ED6A2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07492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261D17"/>
                </a:solidFill>
                <a:latin typeface="Arial"/>
              </a:rPr>
              <a:t>React</a:t>
            </a:r>
          </a:p>
          <a:p>
            <a:pPr algn="l"/>
            <a:r>
              <a:rPr sz="1600" b="0" i="0">
                <a:solidFill>
                  <a:srgbClr val="8A7C6E"/>
                </a:solidFill>
                <a:latin typeface="Arial"/>
              </a:rPr>
              <a:t>Go ahead, or gently guide the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C24E17"/>
                </a:solidFill>
                <a:latin typeface="Arial"/>
              </a:rPr>
              <a:t>WHO WOULD BUILD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61D17"/>
                </a:solidFill>
                <a:latin typeface="Arial"/>
              </a:rPr>
              <a:t>Six apps, and how PingIt helps.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1168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C13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4011" y="2201143"/>
            <a:ext cx="405993" cy="297728"/>
          </a:xfrm>
          <a:prstGeom prst="roundRect">
            <a:avLst>
              <a:gd name="adj" fmla="val 30000"/>
            </a:avLst>
          </a:prstGeom>
          <a:noFill/>
          <a:ln w="279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9042" y="2282342"/>
            <a:ext cx="175930" cy="175930"/>
          </a:xfrm>
          <a:prstGeom prst="ellipse">
            <a:avLst/>
          </a:prstGeom>
          <a:noFill/>
          <a:ln w="279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88206" y="2228209"/>
            <a:ext cx="60899" cy="608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1368" y="196596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Instagram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Check before a big creator goes Live, so a shaky link never tanks the stream, or their reputation.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47472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1" sz="3400">
                <a:solidFill>
                  <a:srgbClr val="E50914"/>
                </a:solidFill>
                <a:latin typeface="Arial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1368" y="342900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Netflix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Pick HD or SD up front, so playback starts instantly instead of buffering.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93776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25D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Callout 12"/>
          <p:cNvSpPr/>
          <p:nvPr/>
        </p:nvSpPr>
        <p:spPr>
          <a:xfrm>
            <a:off x="990478" y="5046024"/>
            <a:ext cx="419526" cy="351861"/>
          </a:xfrm>
          <a:prstGeom prst="wedgeEllipseCallou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01368" y="489204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WhatsApp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Weak link before a video call? Offer audio-only instead of a frozen call.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01168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13743" y="2079345"/>
            <a:ext cx="216529" cy="216529"/>
          </a:xfrm>
          <a:prstGeom prst="ellipse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62607" y="2241743"/>
            <a:ext cx="216529" cy="216529"/>
          </a:xfrm>
          <a:prstGeom prst="ellipse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13743" y="2390607"/>
            <a:ext cx="216529" cy="216529"/>
          </a:xfrm>
          <a:prstGeom prst="ellipse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64878" y="2241743"/>
            <a:ext cx="216529" cy="216529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196596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Google Photos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Hold a big backup until the connection can actually finish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47472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1" sz="3200">
                <a:solidFill>
                  <a:srgbClr val="FFFFFF"/>
                </a:solidFill>
                <a:latin typeface="Arial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42900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Xbox Cloud Gaming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Block a cloud-gaming session when latency is too high to be playable.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937760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1" sz="1500">
                <a:solidFill>
                  <a:srgbClr val="FFFFFF"/>
                </a:solidFill>
                <a:latin typeface="Arial"/>
              </a:rPr>
              <a:t>Uber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4892040"/>
            <a:ext cx="4434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1D17"/>
                </a:solidFill>
                <a:latin typeface="Arial"/>
              </a:rPr>
              <a:t>Uber</a:t>
            </a:r>
          </a:p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8A7C6E"/>
                </a:solidFill>
                <a:latin typeface="Arial"/>
              </a:rPr>
              <a:t>Confirm the connection before "Request", so a tap isn't lost in a dead zone.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1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ED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20">
                <a:solidFill>
                  <a:srgbClr val="ED6A2C"/>
                </a:solidFill>
                <a:latin typeface="Arial"/>
              </a:rPr>
              <a:t>PINGIT SDK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241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BF3E9"/>
                </a:solidFill>
                <a:latin typeface="Arial"/>
              </a:rPr>
              <a:t>A few lines of code. Any app. Users who never hit the wall.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D6A2C"/>
                </a:solidFill>
                <a:latin typeface="Consolas"/>
              </a:rPr>
              <a:t>github.com/bitbit138/pingit-sdk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