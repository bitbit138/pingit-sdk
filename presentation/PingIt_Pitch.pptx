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352"/>
    <p:restoredTop sz="94668"/>
  </p:normalViewPr>
  <p:slideViewPr>
    <p:cSldViewPr snapToGrid="0" snapToObjects="1">
      <p:cViewPr varScale="1">
        <p:scale>
          <a:sx n="119" d="100"/>
          <a:sy n="119" d="100"/>
        </p:scale>
        <p:origin x="216" y="1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7/7/26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7/7/26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7/7/26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3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8869680" y="-1463040"/>
            <a:ext cx="5120640" cy="5120640"/>
          </a:xfrm>
          <a:prstGeom prst="ellipse">
            <a:avLst/>
          </a:prstGeom>
          <a:solidFill>
            <a:srgbClr val="F2E6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0241280" y="182880"/>
            <a:ext cx="2377440" cy="2377440"/>
          </a:xfrm>
          <a:prstGeom prst="ellipse">
            <a:avLst/>
          </a:prstGeom>
          <a:solidFill>
            <a:srgbClr val="ED6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77240" y="1554480"/>
            <a:ext cx="8686800" cy="2011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600" b="1" i="0">
                <a:solidFill>
                  <a:srgbClr val="261D17"/>
                </a:solidFill>
                <a:latin typeface="Arial"/>
              </a:rPr>
              <a:t>PingIt</a:t>
            </a:r>
          </a:p>
        </p:txBody>
      </p:sp>
      <p:sp>
        <p:nvSpPr>
          <p:cNvPr id="7" name="Rectangle 6"/>
          <p:cNvSpPr/>
          <p:nvPr/>
        </p:nvSpPr>
        <p:spPr>
          <a:xfrm>
            <a:off x="868680" y="3246120"/>
            <a:ext cx="3108960" cy="146304"/>
          </a:xfrm>
          <a:prstGeom prst="rect">
            <a:avLst/>
          </a:prstGeom>
          <a:solidFill>
            <a:srgbClr val="ED6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60" y="3611880"/>
            <a:ext cx="877824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C24E17"/>
                </a:solidFill>
                <a:latin typeface="Arial"/>
              </a:rPr>
              <a:t>Know the network before your app needs it.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3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82296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 spc="220">
                <a:solidFill>
                  <a:srgbClr val="C24E17"/>
                </a:solidFill>
                <a:latin typeface="Arial"/>
              </a:rP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554480"/>
            <a:ext cx="10607040" cy="23774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261D17"/>
                </a:solidFill>
                <a:latin typeface="Arial"/>
              </a:rPr>
              <a:t>Your app can't tell if the connection can handle what the user is about to do.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114800"/>
            <a:ext cx="1042416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0" i="0" dirty="0">
                <a:solidFill>
                  <a:srgbClr val="8A7C6E"/>
                </a:solidFill>
                <a:latin typeface="Arial"/>
              </a:rPr>
              <a:t>So the video call freezes. The upload dies at 80%. The stream buffers. The live goes down in front of an audience.</a:t>
            </a:r>
          </a:p>
        </p:txBody>
      </p:sp>
      <p:sp>
        <p:nvSpPr>
          <p:cNvPr id="6" name="Rectangle 5"/>
          <p:cNvSpPr/>
          <p:nvPr/>
        </p:nvSpPr>
        <p:spPr>
          <a:xfrm>
            <a:off x="868680" y="5806440"/>
            <a:ext cx="2011680" cy="128016"/>
          </a:xfrm>
          <a:prstGeom prst="rect">
            <a:avLst/>
          </a:prstGeom>
          <a:solidFill>
            <a:srgbClr val="ED6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3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82296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 spc="220">
                <a:solidFill>
                  <a:srgbClr val="C24E17"/>
                </a:solidFill>
                <a:latin typeface="Arial"/>
              </a:rPr>
              <a:t>THE IDEA, IN ONE 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417320"/>
            <a:ext cx="106070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261D17"/>
                </a:solidFill>
                <a:latin typeface="Arial"/>
              </a:rPr>
              <a:t>You ask about the activity. PingIt answers yes or no.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2651760"/>
            <a:ext cx="6949440" cy="1051560"/>
          </a:xfrm>
          <a:prstGeom prst="rect">
            <a:avLst/>
          </a:prstGeom>
          <a:solidFill>
            <a:srgbClr val="261D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28600" rtlCol="0" anchor="ctr"/>
          <a:lstStyle/>
          <a:p>
            <a:pPr algn="ctr"/>
            <a:r>
              <a:rPr sz="2400" b="1">
                <a:solidFill>
                  <a:srgbClr val="FBF3E9"/>
                </a:solidFill>
                <a:latin typeface="Consolas"/>
              </a:rPr>
              <a:t>pingIt.isReadyFor( VIDEO_CALL 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09560" y="2651760"/>
            <a:ext cx="822960" cy="10515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3400" b="1" i="0">
                <a:solidFill>
                  <a:srgbClr val="ED6A2C"/>
                </a:solidFill>
                <a:latin typeface="Arial"/>
              </a:rPr>
              <a:t>-&gt;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86800" y="2761488"/>
            <a:ext cx="3017520" cy="402336"/>
          </a:xfrm>
          <a:prstGeom prst="roundRect">
            <a:avLst>
              <a:gd name="adj" fmla="val 50000"/>
            </a:avLst>
          </a:prstGeom>
          <a:solidFill>
            <a:srgbClr val="ED6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READY  -  go ahead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0" y="3246120"/>
            <a:ext cx="3291840" cy="402336"/>
          </a:xfrm>
          <a:prstGeom prst="roundRect">
            <a:avLst>
              <a:gd name="adj" fmla="val 50000"/>
            </a:avLst>
          </a:prstGeom>
          <a:noFill/>
          <a:ln w="19050">
            <a:solidFill>
              <a:srgbClr val="261D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261D17"/>
                </a:solidFill>
                <a:latin typeface="Arial"/>
              </a:rPr>
              <a:t>NOT READY  -  latency too high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480560"/>
            <a:ext cx="1042416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100" b="0" i="0">
                <a:solidFill>
                  <a:srgbClr val="8A7C6E"/>
                </a:solidFill>
                <a:latin typeface="Arial"/>
              </a:rPr>
              <a:t>No megabit math. No guessing what "good enough" means. One call, a clear answer, and the reason when it fails.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3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82296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 spc="220" dirty="0">
                <a:solidFill>
                  <a:srgbClr val="C24E17"/>
                </a:solidFill>
                <a:latin typeface="Arial"/>
              </a:rPr>
              <a:t>THE PROFILES FEATURE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417320"/>
            <a:ext cx="1060704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 i="0">
                <a:solidFill>
                  <a:srgbClr val="261D17"/>
                </a:solidFill>
                <a:latin typeface="Arial"/>
              </a:rPr>
              <a:t>Ask about what the user is doing, not about megabits.</a:t>
            </a:r>
          </a:p>
          <a:p>
            <a:pPr algn="l"/>
            <a:r>
              <a:rPr sz="1800" b="0" i="0">
                <a:solidFill>
                  <a:srgbClr val="8A7C6E"/>
                </a:solidFill>
                <a:latin typeface="Arial"/>
              </a:rPr>
              <a:t>Pick from named use cases. We keep the thresholds tuned for you, server-side.</a:t>
            </a:r>
          </a:p>
        </p:txBody>
      </p:sp>
      <p:sp>
        <p:nvSpPr>
          <p:cNvPr id="5" name="Rectangle 4"/>
          <p:cNvSpPr/>
          <p:nvPr/>
        </p:nvSpPr>
        <p:spPr>
          <a:xfrm>
            <a:off x="868680" y="3026664"/>
            <a:ext cx="82296" cy="566928"/>
          </a:xfrm>
          <a:prstGeom prst="rect">
            <a:avLst/>
          </a:prstGeom>
          <a:solidFill>
            <a:srgbClr val="ED6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61288" y="2971800"/>
            <a:ext cx="51206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900" b="1" i="0">
                <a:solidFill>
                  <a:srgbClr val="261D17"/>
                </a:solidFill>
                <a:latin typeface="Arial"/>
              </a:rPr>
              <a:t>MESSAGING</a:t>
            </a:r>
          </a:p>
          <a:p>
            <a:pPr algn="l"/>
            <a:r>
              <a:rPr sz="1400" b="0" i="0">
                <a:solidFill>
                  <a:srgbClr val="8A7C6E"/>
                </a:solidFill>
                <a:latin typeface="Arial"/>
              </a:rPr>
              <a:t>any working link</a:t>
            </a:r>
          </a:p>
        </p:txBody>
      </p:sp>
      <p:sp>
        <p:nvSpPr>
          <p:cNvPr id="7" name="Rectangle 6"/>
          <p:cNvSpPr/>
          <p:nvPr/>
        </p:nvSpPr>
        <p:spPr>
          <a:xfrm>
            <a:off x="868680" y="4105655"/>
            <a:ext cx="82296" cy="566928"/>
          </a:xfrm>
          <a:prstGeom prst="rect">
            <a:avLst/>
          </a:prstGeom>
          <a:solidFill>
            <a:srgbClr val="ED6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61288" y="4050791"/>
            <a:ext cx="51206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900" b="1" i="0">
                <a:solidFill>
                  <a:srgbClr val="261D17"/>
                </a:solidFill>
                <a:latin typeface="Arial"/>
              </a:rPr>
              <a:t>VIDEO CALL</a:t>
            </a:r>
          </a:p>
          <a:p>
            <a:pPr algn="l"/>
            <a:r>
              <a:rPr sz="1400" b="0" i="0">
                <a:solidFill>
                  <a:srgbClr val="8A7C6E"/>
                </a:solidFill>
                <a:latin typeface="Arial"/>
              </a:rPr>
              <a:t>smooth two-way video</a:t>
            </a:r>
          </a:p>
        </p:txBody>
      </p:sp>
      <p:sp>
        <p:nvSpPr>
          <p:cNvPr id="9" name="Rectangle 8"/>
          <p:cNvSpPr/>
          <p:nvPr/>
        </p:nvSpPr>
        <p:spPr>
          <a:xfrm>
            <a:off x="868680" y="5184647"/>
            <a:ext cx="82296" cy="566928"/>
          </a:xfrm>
          <a:prstGeom prst="rect">
            <a:avLst/>
          </a:prstGeom>
          <a:solidFill>
            <a:srgbClr val="ED6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161288" y="5129783"/>
            <a:ext cx="51206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900" b="1" i="0">
                <a:solidFill>
                  <a:srgbClr val="261D17"/>
                </a:solidFill>
                <a:latin typeface="Arial"/>
              </a:rPr>
              <a:t>HD &amp; 4K STREAMING</a:t>
            </a:r>
          </a:p>
          <a:p>
            <a:pPr algn="l"/>
            <a:r>
              <a:rPr sz="1400" b="0" i="0">
                <a:solidFill>
                  <a:srgbClr val="8A7C6E"/>
                </a:solidFill>
                <a:latin typeface="Arial"/>
              </a:rPr>
              <a:t>play without buffering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92240" y="3026664"/>
            <a:ext cx="82296" cy="566928"/>
          </a:xfrm>
          <a:prstGeom prst="rect">
            <a:avLst/>
          </a:prstGeom>
          <a:solidFill>
            <a:srgbClr val="ED6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784848" y="2971800"/>
            <a:ext cx="51206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900" b="1" i="0">
                <a:solidFill>
                  <a:srgbClr val="261D17"/>
                </a:solidFill>
                <a:latin typeface="Arial"/>
              </a:rPr>
              <a:t>CLOUD GAMING</a:t>
            </a:r>
          </a:p>
          <a:p>
            <a:pPr algn="l"/>
            <a:r>
              <a:rPr sz="1400" b="0" i="0">
                <a:solidFill>
                  <a:srgbClr val="8A7C6E"/>
                </a:solidFill>
                <a:latin typeface="Arial"/>
              </a:rPr>
              <a:t>ultra-low latency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92240" y="4105655"/>
            <a:ext cx="82296" cy="566928"/>
          </a:xfrm>
          <a:prstGeom prst="rect">
            <a:avLst/>
          </a:prstGeom>
          <a:solidFill>
            <a:srgbClr val="ED6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784848" y="4050791"/>
            <a:ext cx="51206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900" b="1" i="0">
                <a:solidFill>
                  <a:srgbClr val="261D17"/>
                </a:solidFill>
                <a:latin typeface="Arial"/>
              </a:rPr>
              <a:t>GOING LIVE</a:t>
            </a:r>
          </a:p>
          <a:p>
            <a:pPr algn="l"/>
            <a:r>
              <a:rPr sz="1400" b="0" i="0">
                <a:solidFill>
                  <a:srgbClr val="8A7C6E"/>
                </a:solidFill>
                <a:latin typeface="Arial"/>
              </a:rPr>
              <a:t>strong, steady upload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92240" y="5184647"/>
            <a:ext cx="82296" cy="566928"/>
          </a:xfrm>
          <a:prstGeom prst="rect">
            <a:avLst/>
          </a:prstGeom>
          <a:solidFill>
            <a:srgbClr val="ED6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784848" y="5129783"/>
            <a:ext cx="51206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900" b="1" i="0">
                <a:solidFill>
                  <a:srgbClr val="261D17"/>
                </a:solidFill>
                <a:latin typeface="Arial"/>
              </a:rPr>
              <a:t>BIG UPLOAD / BACKUP</a:t>
            </a:r>
          </a:p>
          <a:p>
            <a:pPr algn="l"/>
            <a:r>
              <a:rPr sz="1400" b="0" i="0">
                <a:solidFill>
                  <a:srgbClr val="8A7C6E"/>
                </a:solidFill>
                <a:latin typeface="Arial"/>
              </a:rPr>
              <a:t>finish large transfers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3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 spc="220">
                <a:solidFill>
                  <a:srgbClr val="C24E17"/>
                </a:solidFill>
                <a:latin typeface="Arial"/>
              </a:rPr>
              <a:t>BEHIND IT: THE DASHBOARD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097280"/>
            <a:ext cx="1088136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261D17"/>
                </a:solidFill>
                <a:latin typeface="Arial"/>
              </a:rPr>
              <a:t>Tune the profiles live. No app update.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783080"/>
            <a:ext cx="106070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0">
                <a:solidFill>
                  <a:srgbClr val="8A7C6E"/>
                </a:solidFill>
                <a:latin typeface="Arial"/>
              </a:rPr>
              <a:t>An operator manages thresholds, apps, and health in a web dashboard. Devices pick up the changes on their own.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2514600"/>
            <a:ext cx="6126480" cy="3977639"/>
          </a:xfrm>
          <a:prstGeom prst="rect">
            <a:avLst/>
          </a:prstGeom>
          <a:solidFill>
            <a:srgbClr val="FFFFFF"/>
          </a:solidFill>
          <a:ln w="15875">
            <a:solidFill>
              <a:srgbClr val="E2D6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77240" y="2514600"/>
            <a:ext cx="6126480" cy="310896"/>
          </a:xfrm>
          <a:prstGeom prst="rect">
            <a:avLst/>
          </a:prstGeom>
          <a:solidFill>
            <a:srgbClr val="261D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941832" y="2606040"/>
            <a:ext cx="118872" cy="118872"/>
          </a:xfrm>
          <a:prstGeom prst="ellipse">
            <a:avLst/>
          </a:prstGeom>
          <a:solidFill>
            <a:srgbClr val="ED6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143000" y="2606040"/>
            <a:ext cx="118872" cy="118872"/>
          </a:xfrm>
          <a:prstGeom prst="ellipse">
            <a:avLst/>
          </a:prstGeom>
          <a:solidFill>
            <a:srgbClr val="F2C0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1344168" y="2606040"/>
            <a:ext cx="118872" cy="118872"/>
          </a:xfrm>
          <a:prstGeom prst="ellipse">
            <a:avLst/>
          </a:prstGeom>
          <a:solidFill>
            <a:srgbClr val="9C8F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691640" y="2555748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FBF3E9"/>
                </a:solidFill>
                <a:latin typeface="Arial"/>
              </a:rPr>
              <a:t>PingIt  ·  Dashboard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2825496"/>
            <a:ext cx="1600200" cy="3666744"/>
          </a:xfrm>
          <a:prstGeom prst="rect">
            <a:avLst/>
          </a:prstGeom>
          <a:solidFill>
            <a:srgbClr val="F2E6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14983" y="3099815"/>
            <a:ext cx="1289304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0" i="0">
                <a:solidFill>
                  <a:srgbClr val="261D17"/>
                </a:solidFill>
                <a:latin typeface="Arial"/>
              </a:rPr>
              <a:t>Dashboard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7240" y="3621024"/>
            <a:ext cx="73152" cy="402336"/>
          </a:xfrm>
          <a:prstGeom prst="rect">
            <a:avLst/>
          </a:prstGeom>
          <a:solidFill>
            <a:srgbClr val="ED6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50392" y="3621024"/>
            <a:ext cx="1527048" cy="402336"/>
          </a:xfrm>
          <a:prstGeom prst="rect">
            <a:avLst/>
          </a:prstGeom>
          <a:solidFill>
            <a:srgbClr val="EEDD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014983" y="3666744"/>
            <a:ext cx="1289304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1" i="0">
                <a:solidFill>
                  <a:srgbClr val="C24E17"/>
                </a:solidFill>
                <a:latin typeface="Arial"/>
              </a:rPr>
              <a:t>Profiles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14983" y="4233672"/>
            <a:ext cx="1289304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0" i="0">
                <a:solidFill>
                  <a:srgbClr val="261D17"/>
                </a:solidFill>
                <a:latin typeface="Arial"/>
              </a:rPr>
              <a:t>History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14983" y="4800600"/>
            <a:ext cx="1289304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0" i="0">
                <a:solidFill>
                  <a:srgbClr val="261D17"/>
                </a:solidFill>
                <a:latin typeface="Arial"/>
              </a:rPr>
              <a:t>Apps &amp; keys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14983" y="5367527"/>
            <a:ext cx="1289304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0" i="0">
                <a:solidFill>
                  <a:srgbClr val="261D17"/>
                </a:solidFill>
                <a:latin typeface="Arial"/>
              </a:rPr>
              <a:t>Health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14983" y="5934456"/>
            <a:ext cx="1289304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0" i="0">
                <a:solidFill>
                  <a:srgbClr val="261D17"/>
                </a:solidFill>
                <a:latin typeface="Arial"/>
              </a:rPr>
              <a:t>Crashes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51760" y="2880360"/>
            <a:ext cx="4069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 spc="180">
                <a:solidFill>
                  <a:srgbClr val="8A7C6E"/>
                </a:solidFill>
                <a:latin typeface="Arial"/>
              </a:rPr>
              <a:t>PROFILES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633472" y="3209544"/>
            <a:ext cx="4023360" cy="3099815"/>
          </a:xfrm>
          <a:prstGeom prst="rect">
            <a:avLst/>
          </a:prstGeom>
          <a:solidFill>
            <a:srgbClr val="FBF3E9"/>
          </a:solidFill>
          <a:ln w="12700">
            <a:solidFill>
              <a:srgbClr val="E7D8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2834640" y="3355848"/>
            <a:ext cx="2743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 i="0">
                <a:solidFill>
                  <a:srgbClr val="261D17"/>
                </a:solidFill>
                <a:latin typeface="Arial"/>
              </a:rPr>
              <a:t>VIDEO CALL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788152" y="3374136"/>
            <a:ext cx="640080" cy="310896"/>
          </a:xfrm>
          <a:prstGeom prst="roundRect">
            <a:avLst>
              <a:gd name="adj" fmla="val 50000"/>
            </a:avLst>
          </a:prstGeom>
          <a:solidFill>
            <a:srgbClr val="ED6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v7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852928" y="3867911"/>
            <a:ext cx="219456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0" i="0">
                <a:solidFill>
                  <a:srgbClr val="261D17"/>
                </a:solidFill>
                <a:latin typeface="Arial"/>
              </a:rPr>
              <a:t>Download min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239512" y="3858768"/>
            <a:ext cx="118872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8C7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6200" tIns="0" rIns="76200" bIns="0" rtlCol="0" anchor="ctr"/>
          <a:lstStyle/>
          <a:p>
            <a:pPr algn="ctr"/>
            <a:r>
              <a:rPr sz="1300" b="1">
                <a:solidFill>
                  <a:srgbClr val="261D17"/>
                </a:solidFill>
                <a:latin typeface="Consolas"/>
              </a:rPr>
              <a:t>1.5 Mbps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852928" y="4325112"/>
            <a:ext cx="219456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0" i="0">
                <a:solidFill>
                  <a:srgbClr val="261D17"/>
                </a:solidFill>
                <a:latin typeface="Arial"/>
              </a:rPr>
              <a:t>Upload min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239512" y="4315968"/>
            <a:ext cx="118872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8C7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6200" tIns="0" rIns="76200" bIns="0" rtlCol="0" anchor="ctr"/>
          <a:lstStyle/>
          <a:p>
            <a:pPr algn="ctr"/>
            <a:r>
              <a:rPr sz="1300" b="1">
                <a:solidFill>
                  <a:srgbClr val="261D17"/>
                </a:solidFill>
                <a:latin typeface="Consolas"/>
              </a:rPr>
              <a:t>1.0 Mbps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852928" y="4782312"/>
            <a:ext cx="219456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0" i="0">
                <a:solidFill>
                  <a:srgbClr val="261D17"/>
                </a:solidFill>
                <a:latin typeface="Arial"/>
              </a:rPr>
              <a:t>Latency max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239512" y="4773168"/>
            <a:ext cx="118872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8C7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6200" tIns="0" rIns="76200" bIns="0" rtlCol="0" anchor="ctr"/>
          <a:lstStyle/>
          <a:p>
            <a:pPr algn="ctr"/>
            <a:r>
              <a:rPr sz="1300" b="1">
                <a:solidFill>
                  <a:srgbClr val="261D17"/>
                </a:solidFill>
                <a:latin typeface="Consolas"/>
              </a:rPr>
              <a:t>200 ms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852928" y="5239512"/>
            <a:ext cx="219456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0" i="0">
                <a:solidFill>
                  <a:srgbClr val="261D17"/>
                </a:solidFill>
                <a:latin typeface="Arial"/>
              </a:rPr>
              <a:t>Jitter max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239512" y="5230368"/>
            <a:ext cx="118872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8C7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6200" tIns="0" rIns="76200" bIns="0" rtlCol="0" anchor="ctr"/>
          <a:lstStyle/>
          <a:p>
            <a:pPr algn="ctr"/>
            <a:r>
              <a:rPr sz="1300" b="1">
                <a:solidFill>
                  <a:srgbClr val="261D17"/>
                </a:solidFill>
                <a:latin typeface="Consolas"/>
              </a:rPr>
              <a:t>40 ms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2852928" y="5742431"/>
            <a:ext cx="1645920" cy="402336"/>
          </a:xfrm>
          <a:prstGeom prst="roundRect">
            <a:avLst>
              <a:gd name="adj" fmla="val 50000"/>
            </a:avLst>
          </a:prstGeom>
          <a:solidFill>
            <a:srgbClr val="ED6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Save changes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645152" y="5760719"/>
            <a:ext cx="1874520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 i="1">
                <a:solidFill>
                  <a:srgbClr val="8A7C6E"/>
                </a:solidFill>
                <a:latin typeface="Consolas"/>
              </a:rPr>
              <a:t>-&gt; now version 8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0" y="2542032"/>
            <a:ext cx="43891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00" b="1" i="0">
                <a:solidFill>
                  <a:srgbClr val="261D17"/>
                </a:solidFill>
                <a:latin typeface="Arial"/>
              </a:rPr>
              <a:t>What you manage here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0" y="3264408"/>
            <a:ext cx="146304" cy="146304"/>
          </a:xfrm>
          <a:prstGeom prst="rect">
            <a:avLst/>
          </a:prstGeom>
          <a:solidFill>
            <a:srgbClr val="ED6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7644383" y="3200400"/>
            <a:ext cx="41148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0">
                <a:solidFill>
                  <a:srgbClr val="261D17"/>
                </a:solidFill>
                <a:latin typeface="Arial"/>
              </a:rPr>
              <a:t>Tune profile thresholds - no app release needed.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315200" y="3813048"/>
            <a:ext cx="146304" cy="146304"/>
          </a:xfrm>
          <a:prstGeom prst="rect">
            <a:avLst/>
          </a:prstGeom>
          <a:solidFill>
            <a:srgbClr val="ED6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7644383" y="3749039"/>
            <a:ext cx="41148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0">
                <a:solidFill>
                  <a:srgbClr val="261D17"/>
                </a:solidFill>
                <a:latin typeface="Arial"/>
              </a:rPr>
              <a:t>Register apps and issue an appId.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315200" y="4361688"/>
            <a:ext cx="146304" cy="146304"/>
          </a:xfrm>
          <a:prstGeom prst="rect">
            <a:avLst/>
          </a:prstGeom>
          <a:solidFill>
            <a:srgbClr val="ED6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7644383" y="4297680"/>
            <a:ext cx="41148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0">
                <a:solidFill>
                  <a:srgbClr val="261D17"/>
                </a:solidFill>
                <a:latin typeface="Arial"/>
              </a:rPr>
              <a:t>Watch live analytics and device history.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315200" y="4910328"/>
            <a:ext cx="146304" cy="146304"/>
          </a:xfrm>
          <a:prstGeom prst="rect">
            <a:avLst/>
          </a:prstGeom>
          <a:solidFill>
            <a:srgbClr val="ED6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7644383" y="4846320"/>
            <a:ext cx="41148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0">
                <a:solidFill>
                  <a:srgbClr val="261D17"/>
                </a:solidFill>
                <a:latin typeface="Arial"/>
              </a:rPr>
              <a:t>See crash reports as they arrive.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315200" y="5532120"/>
            <a:ext cx="91440" cy="822960"/>
          </a:xfrm>
          <a:prstGeom prst="rect">
            <a:avLst/>
          </a:prstGeom>
          <a:solidFill>
            <a:srgbClr val="ED6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7406640" y="5532120"/>
            <a:ext cx="4297680" cy="822960"/>
          </a:xfrm>
          <a:prstGeom prst="rect">
            <a:avLst/>
          </a:prstGeom>
          <a:solidFill>
            <a:srgbClr val="F2E6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7644383" y="5660136"/>
            <a:ext cx="39319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1" i="0">
                <a:solidFill>
                  <a:srgbClr val="261D17"/>
                </a:solidFill>
                <a:latin typeface="Arial"/>
              </a:rPr>
              <a:t>Change what "ready" means from here - every device follows, no update.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3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82296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 spc="220">
                <a:solidFill>
                  <a:srgbClr val="C24E17"/>
                </a:solidFill>
                <a:latin typeface="Arial"/>
              </a:rPr>
              <a:t>HOW YOU USE 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371600"/>
            <a:ext cx="106070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 i="0">
                <a:solidFill>
                  <a:srgbClr val="261D17"/>
                </a:solidFill>
                <a:latin typeface="Arial"/>
              </a:rPr>
              <a:t>Three steps. That's the whole integration.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2468880"/>
            <a:ext cx="137160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600" b="1" i="0">
                <a:solidFill>
                  <a:srgbClr val="ED6A2C"/>
                </a:solidFill>
                <a:latin typeface="Arial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0" y="2606040"/>
            <a:ext cx="914400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200" b="1" i="0">
                <a:solidFill>
                  <a:srgbClr val="261D17"/>
                </a:solidFill>
                <a:latin typeface="Arial"/>
              </a:rPr>
              <a:t>Add the SDK</a:t>
            </a:r>
          </a:p>
          <a:p>
            <a:pPr algn="l"/>
            <a:r>
              <a:rPr sz="1600" b="0" i="0">
                <a:solidFill>
                  <a:srgbClr val="8A7C6E"/>
                </a:solidFill>
                <a:latin typeface="Arial"/>
              </a:rPr>
              <a:t>It starts itself on app launch. No setup code.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3703320"/>
            <a:ext cx="137160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600" b="1" i="0">
                <a:solidFill>
                  <a:srgbClr val="ED6A2C"/>
                </a:solidFill>
                <a:latin typeface="Arial"/>
              </a:rP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86000" y="3840480"/>
            <a:ext cx="914400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200" b="1" i="0">
                <a:solidFill>
                  <a:srgbClr val="261D17"/>
                </a:solidFill>
                <a:latin typeface="Arial"/>
              </a:rPr>
              <a:t>Ask</a:t>
            </a:r>
          </a:p>
          <a:p>
            <a:pPr algn="l"/>
            <a:r>
              <a:rPr sz="1600" b="0" i="0">
                <a:solidFill>
                  <a:srgbClr val="8A7C6E"/>
                </a:solidFill>
                <a:latin typeface="Consolas"/>
              </a:rPr>
              <a:t>pingIt.isReadyFor(Profile.VIDEO_CALL)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4937760"/>
            <a:ext cx="137160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600" b="1" i="0">
                <a:solidFill>
                  <a:srgbClr val="ED6A2C"/>
                </a:solidFill>
                <a:latin typeface="Arial"/>
              </a:rPr>
              <a:t>03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86000" y="5074920"/>
            <a:ext cx="914400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200" b="1" i="0">
                <a:solidFill>
                  <a:srgbClr val="261D17"/>
                </a:solidFill>
                <a:latin typeface="Arial"/>
              </a:rPr>
              <a:t>React</a:t>
            </a:r>
          </a:p>
          <a:p>
            <a:pPr algn="l"/>
            <a:r>
              <a:rPr sz="1600" b="0" i="0">
                <a:solidFill>
                  <a:srgbClr val="8A7C6E"/>
                </a:solidFill>
                <a:latin typeface="Arial"/>
              </a:rPr>
              <a:t>Go ahead, or gently guide the user.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291752"/>
            <a:ext cx="12191695" cy="6858000"/>
          </a:xfrm>
          <a:prstGeom prst="rect">
            <a:avLst/>
          </a:prstGeom>
          <a:solidFill>
            <a:srgbClr val="FBF3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1143000"/>
            <a:ext cx="10607040" cy="4616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3000" b="1" i="0" dirty="0">
                <a:solidFill>
                  <a:srgbClr val="261D17"/>
                </a:solidFill>
                <a:latin typeface="Arial"/>
              </a:rPr>
              <a:t>How </a:t>
            </a:r>
            <a:r>
              <a:rPr sz="3000" b="1" i="0" dirty="0" err="1">
                <a:solidFill>
                  <a:srgbClr val="261D17"/>
                </a:solidFill>
                <a:latin typeface="Arial"/>
              </a:rPr>
              <a:t>PingIt</a:t>
            </a:r>
            <a:r>
              <a:rPr sz="3000" b="1" i="0" dirty="0">
                <a:solidFill>
                  <a:srgbClr val="261D17"/>
                </a:solidFill>
                <a:latin typeface="Arial"/>
              </a:rPr>
              <a:t> helps</a:t>
            </a:r>
            <a:r>
              <a:rPr lang="en-US" sz="3000" b="1" i="0" dirty="0">
                <a:solidFill>
                  <a:srgbClr val="261D17"/>
                </a:solidFill>
                <a:latin typeface="Arial"/>
              </a:rPr>
              <a:t>?</a:t>
            </a:r>
            <a:endParaRPr sz="3000" b="1" i="0" dirty="0">
              <a:solidFill>
                <a:srgbClr val="261D17"/>
              </a:solidFill>
              <a:latin typeface="Arial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801368" y="1965960"/>
            <a:ext cx="4434840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1" i="0" dirty="0">
                <a:solidFill>
                  <a:srgbClr val="261D17"/>
                </a:solidFill>
                <a:latin typeface="Arial"/>
              </a:rPr>
              <a:t>Instagram</a:t>
            </a:r>
          </a:p>
          <a:p>
            <a:pPr algn="l">
              <a:lnSpc>
                <a:spcPct val="108000"/>
              </a:lnSpc>
            </a:pPr>
            <a:r>
              <a:rPr sz="1300" b="0" i="0" dirty="0">
                <a:solidFill>
                  <a:srgbClr val="8A7C6E"/>
                </a:solidFill>
                <a:latin typeface="Arial"/>
              </a:rPr>
              <a:t>Check before a big creator goes Live, so a shaky link never tanks the stream, or their reputation.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01368" y="3429000"/>
            <a:ext cx="4434840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1" i="0">
                <a:solidFill>
                  <a:srgbClr val="261D17"/>
                </a:solidFill>
                <a:latin typeface="Arial"/>
              </a:rPr>
              <a:t>Netflix</a:t>
            </a:r>
          </a:p>
          <a:p>
            <a:pPr algn="l">
              <a:lnSpc>
                <a:spcPct val="108000"/>
              </a:lnSpc>
            </a:pPr>
            <a:r>
              <a:rPr sz="1300" b="0" i="0">
                <a:solidFill>
                  <a:srgbClr val="8A7C6E"/>
                </a:solidFill>
                <a:latin typeface="Arial"/>
              </a:rPr>
              <a:t>Pick HD or SD up front, so playback starts instantly instead of buffering.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01368" y="4892040"/>
            <a:ext cx="4434840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1" i="0">
                <a:solidFill>
                  <a:srgbClr val="261D17"/>
                </a:solidFill>
                <a:latin typeface="Arial"/>
              </a:rPr>
              <a:t>WhatsApp</a:t>
            </a:r>
          </a:p>
          <a:p>
            <a:pPr algn="l">
              <a:lnSpc>
                <a:spcPct val="108000"/>
              </a:lnSpc>
            </a:pPr>
            <a:r>
              <a:rPr sz="1300" b="0" i="0">
                <a:solidFill>
                  <a:srgbClr val="8A7C6E"/>
                </a:solidFill>
                <a:latin typeface="Arial"/>
              </a:rPr>
              <a:t>Weak link before a video call? Offer audio-only instead of a frozen call.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16368" y="1965960"/>
            <a:ext cx="4434840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1" i="0">
                <a:solidFill>
                  <a:srgbClr val="261D17"/>
                </a:solidFill>
                <a:latin typeface="Arial"/>
              </a:rPr>
              <a:t>Google Photos</a:t>
            </a:r>
          </a:p>
          <a:p>
            <a:pPr algn="l">
              <a:lnSpc>
                <a:spcPct val="108000"/>
              </a:lnSpc>
            </a:pPr>
            <a:r>
              <a:rPr sz="1300" b="0" i="0">
                <a:solidFill>
                  <a:srgbClr val="8A7C6E"/>
                </a:solidFill>
                <a:latin typeface="Arial"/>
              </a:rPr>
              <a:t>Hold a big backup until the connection can actually finish it.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16368" y="3429000"/>
            <a:ext cx="4434840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1" i="0">
                <a:solidFill>
                  <a:srgbClr val="261D17"/>
                </a:solidFill>
                <a:latin typeface="Arial"/>
              </a:rPr>
              <a:t>Xbox Cloud Gaming</a:t>
            </a:r>
          </a:p>
          <a:p>
            <a:pPr algn="l">
              <a:lnSpc>
                <a:spcPct val="108000"/>
              </a:lnSpc>
            </a:pPr>
            <a:r>
              <a:rPr sz="1300" b="0" i="0">
                <a:solidFill>
                  <a:srgbClr val="8A7C6E"/>
                </a:solidFill>
                <a:latin typeface="Arial"/>
              </a:rPr>
              <a:t>Block a cloud-gaming session when latency is too high to be playable.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16368" y="4892040"/>
            <a:ext cx="4434840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1" i="0">
                <a:solidFill>
                  <a:srgbClr val="261D17"/>
                </a:solidFill>
                <a:latin typeface="Arial"/>
              </a:rPr>
              <a:t>Uber</a:t>
            </a:r>
          </a:p>
          <a:p>
            <a:pPr algn="l">
              <a:lnSpc>
                <a:spcPct val="108000"/>
              </a:lnSpc>
            </a:pPr>
            <a:r>
              <a:rPr sz="1300" b="0" i="0">
                <a:solidFill>
                  <a:srgbClr val="8A7C6E"/>
                </a:solidFill>
                <a:latin typeface="Arial"/>
              </a:rPr>
              <a:t>Confirm the connection before "Request", so a tap isn't lost in a dead zone.</a:t>
            </a:r>
          </a:p>
        </p:txBody>
      </p:sp>
      <p:pic>
        <p:nvPicPr>
          <p:cNvPr id="26" name="Picture 25" descr="Instagram logo vector">
            <a:extLst>
              <a:ext uri="{FF2B5EF4-FFF2-40B4-BE49-F238E27FC236}">
                <a16:creationId xmlns:a16="http://schemas.microsoft.com/office/drawing/2014/main" id="{B618A9A1-570F-B59C-C04C-13DB93DD0D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984" y="2011680"/>
            <a:ext cx="697320" cy="697320"/>
          </a:xfrm>
          <a:prstGeom prst="rect">
            <a:avLst/>
          </a:prstGeom>
        </p:spPr>
      </p:pic>
      <p:pic>
        <p:nvPicPr>
          <p:cNvPr id="27" name="Picture 26" descr="Google Drive for Business - Review 2026 - PCMag UK">
            <a:extLst>
              <a:ext uri="{FF2B5EF4-FFF2-40B4-BE49-F238E27FC236}">
                <a16:creationId xmlns:a16="http://schemas.microsoft.com/office/drawing/2014/main" id="{AD62DB16-8E45-2C50-46FE-3695805BFB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426917" y="1965960"/>
            <a:ext cx="990180" cy="554900"/>
          </a:xfrm>
          <a:prstGeom prst="rect">
            <a:avLst/>
          </a:prstGeom>
        </p:spPr>
      </p:pic>
      <p:pic>
        <p:nvPicPr>
          <p:cNvPr id="28" name="Picture 27" descr="Whatsapp logo Vectors - Download Free High-Quality Vectors | Magnific (formerly Freepik)">
            <a:extLst>
              <a:ext uri="{FF2B5EF4-FFF2-40B4-BE49-F238E27FC236}">
                <a16:creationId xmlns:a16="http://schemas.microsoft.com/office/drawing/2014/main" id="{95568CA5-D737-34A1-CC7D-E2D24B736F5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777240" y="4709123"/>
            <a:ext cx="905293" cy="905293"/>
          </a:xfrm>
          <a:prstGeom prst="rect">
            <a:avLst/>
          </a:prstGeom>
        </p:spPr>
      </p:pic>
      <p:pic>
        <p:nvPicPr>
          <p:cNvPr id="29" name="Picture 28" descr="File:Xbox app logo.svg - Wikimedia Commons">
            <a:extLst>
              <a:ext uri="{FF2B5EF4-FFF2-40B4-BE49-F238E27FC236}">
                <a16:creationId xmlns:a16="http://schemas.microsoft.com/office/drawing/2014/main" id="{EA1C680F-DAF6-CF89-4B7A-AC14A324786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47741" y="3422740"/>
            <a:ext cx="748532" cy="748532"/>
          </a:xfrm>
          <a:prstGeom prst="rect">
            <a:avLst/>
          </a:prstGeom>
        </p:spPr>
      </p:pic>
      <p:pic>
        <p:nvPicPr>
          <p:cNvPr id="30" name="Picture 29" descr="Netflix isn't changing its logo, but has a new icon | The Verge">
            <a:extLst>
              <a:ext uri="{FF2B5EF4-FFF2-40B4-BE49-F238E27FC236}">
                <a16:creationId xmlns:a16="http://schemas.microsoft.com/office/drawing/2014/main" id="{912B129F-2FB1-5F1B-85AC-0ABF95DD0579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24658" t="-4597" r="22972" b="-1"/>
          <a:stretch>
            <a:fillRect/>
          </a:stretch>
        </p:blipFill>
        <p:spPr>
          <a:xfrm>
            <a:off x="1015735" y="3403241"/>
            <a:ext cx="474100" cy="635022"/>
          </a:xfrm>
          <a:prstGeom prst="rect">
            <a:avLst/>
          </a:prstGeom>
        </p:spPr>
      </p:pic>
      <p:pic>
        <p:nvPicPr>
          <p:cNvPr id="31" name="Picture 30" descr="Uber's New Logo Has Been Unveiled, and Twitter Has Thoughts | Marie Claire">
            <a:extLst>
              <a:ext uri="{FF2B5EF4-FFF2-40B4-BE49-F238E27FC236}">
                <a16:creationId xmlns:a16="http://schemas.microsoft.com/office/drawing/2014/main" id="{1CCA96CE-7086-0FA8-B51A-A4D23B5C780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77277" y="4892040"/>
            <a:ext cx="837782" cy="46997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463</Words>
  <Application>Microsoft Macintosh PowerPoint</Application>
  <PresentationFormat>Widescreen</PresentationFormat>
  <Paragraphs>80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Tom Bitran</cp:lastModifiedBy>
  <cp:revision>2</cp:revision>
  <dcterms:created xsi:type="dcterms:W3CDTF">2013-01-27T09:14:16Z</dcterms:created>
  <dcterms:modified xsi:type="dcterms:W3CDTF">2026-07-07T11:31:26Z</dcterms:modified>
  <cp:category/>
</cp:coreProperties>
</file>