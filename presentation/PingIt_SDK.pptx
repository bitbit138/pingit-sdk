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82296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1FA8C9"/>
                </a:solidFill>
                <a:latin typeface="Calibri"/>
              </a:rPr>
              <a:t>MOBILE SDK  ·  PROPOSAL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5600" b="1" i="0">
                <a:solidFill>
                  <a:srgbClr val="FFFFFF"/>
                </a:solidFill>
                <a:latin typeface="Calibri"/>
              </a:rPr>
              <a:t>PingIt SDK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24128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 i="1">
                <a:solidFill>
                  <a:srgbClr val="A9C0CE"/>
                </a:solidFill>
                <a:latin typeface="Calibri"/>
              </a:rPr>
              <a:t>A lightweight SDK that measures real connection quality on mobile —</a:t>
            </a:r>
          </a:p>
          <a:p>
            <a:pPr algn="l">
              <a:spcBef>
                <a:spcPts val="0"/>
              </a:spcBef>
            </a:pPr>
            <a:r>
              <a:rPr sz="2100" b="0" i="1">
                <a:solidFill>
                  <a:srgbClr val="A9C0CE"/>
                </a:solidFill>
                <a:latin typeface="Calibri"/>
              </a:rPr>
              <a:t>efficiently, and without depending on any single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Tom Bitran</a:t>
            </a:r>
          </a:p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A9C0CE"/>
                </a:solidFill>
                <a:latin typeface="Calibri"/>
              </a:rPr>
              <a:t>Mobile Development / SDK Class</a:t>
            </a:r>
          </a:p>
        </p:txBody>
      </p:sp>
      <p:sp>
        <p:nvSpPr>
          <p:cNvPr id="8" name="Oval 7"/>
          <p:cNvSpPr/>
          <p:nvPr/>
        </p:nvSpPr>
        <p:spPr>
          <a:xfrm>
            <a:off x="9464040" y="960120"/>
            <a:ext cx="2103120" cy="2103120"/>
          </a:xfrm>
          <a:prstGeom prst="ellipse">
            <a:avLst/>
          </a:prstGeom>
          <a:noFill/>
          <a:ln w="25400">
            <a:solidFill>
              <a:srgbClr val="9F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84080" y="1280160"/>
            <a:ext cx="1463040" cy="1463040"/>
          </a:xfrm>
          <a:prstGeom prst="ellipse">
            <a:avLst/>
          </a:prstGeom>
          <a:noFill/>
          <a:ln w="31750">
            <a:solidFill>
              <a:srgbClr val="5FB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81260" y="1577340"/>
            <a:ext cx="868680" cy="868680"/>
          </a:xfrm>
          <a:prstGeom prst="ellipse">
            <a:avLst/>
          </a:prstGeom>
          <a:noFill/>
          <a:ln w="38100">
            <a:solidFill>
              <a:srgbClr val="1FA8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78440" y="1874520"/>
            <a:ext cx="274320" cy="274320"/>
          </a:xfrm>
          <a:prstGeom prst="ellipse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E8A83A"/>
                </a:solidFill>
                <a:latin typeface="Calibri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The problem &amp; the need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 i="0">
                <a:solidFill>
                  <a:srgbClr val="0F2A43"/>
                </a:solidFill>
                <a:latin typeface="Calibri"/>
              </a:rPr>
              <a:t>Mobile networks are unpredictable — and apps can't tell what they can handle.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8A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97963" y="2606040"/>
            <a:ext cx="868680" cy="868680"/>
          </a:xfrm>
          <a:prstGeom prst="ellipse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21868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0F2A43"/>
                </a:solidFill>
                <a:latin typeface="Calibri"/>
              </a:rPr>
              <a:t>Networks vary wildly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4206240"/>
            <a:ext cx="2944368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6B7C8D"/>
                </a:solidFill>
                <a:latin typeface="Calibri"/>
              </a:rPr>
              <a:t>cellular to wifi, moving between cells, weak signal, dead zones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2860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5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10427" y="2606040"/>
            <a:ext cx="868680" cy="868680"/>
          </a:xfrm>
          <a:prstGeom prst="ellipse">
            <a:avLst/>
          </a:prstGeom>
          <a:solidFill>
            <a:srgbClr val="E5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3703320"/>
            <a:ext cx="321868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0F2A43"/>
                </a:solidFill>
                <a:latin typeface="Calibri"/>
              </a:rPr>
              <a:t>Apps are flying blind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3" y="4206240"/>
            <a:ext cx="2944368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6B7C8D"/>
                </a:solidFill>
                <a:latin typeface="Calibri"/>
              </a:rPr>
              <a:t>no lightweight "can the network handle this?" check exists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2286000"/>
            <a:ext cx="3584448" cy="27432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22891" y="2606040"/>
            <a:ext cx="868680" cy="868680"/>
          </a:xfrm>
          <a:prstGeom prst="ellipse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3703320"/>
            <a:ext cx="321868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0F2A43"/>
                </a:solidFill>
                <a:latin typeface="Calibri"/>
              </a:rPr>
              <a:t>Hard to do 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7" y="4206240"/>
            <a:ext cx="2944368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6B7C8D"/>
                </a:solidFill>
                <a:latin typeface="Calibri"/>
              </a:rPr>
              <a:t>slow-start, flaky nets, data cost, and you need a target to measure against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85232"/>
            <a:ext cx="10972800" cy="749808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03520"/>
            <a:ext cx="1060704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Calibri"/>
              </a:rPr>
              <a:t>PingIt gives them a lightweight read of the connection — and a clear answer — in a few lines.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The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700" b="0" i="0">
                <a:solidFill>
                  <a:srgbClr val="1A2B3C"/>
                </a:solidFill>
                <a:latin typeface="Calibri"/>
              </a:rPr>
              <a:t>PingIt is a lightweight mobile SDK that measures the real quality of a device's internet connection — download, upload, latency, jitter (and packet loss).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FA8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3584448" cy="502920"/>
          </a:xfrm>
          <a:prstGeom prst="round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FFFFFF"/>
                </a:solidFill>
              </a:rPr>
              <a:t>Lightweight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154680"/>
            <a:ext cx="320040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A2B3C"/>
                </a:solidFill>
                <a:latin typeface="Calibri"/>
              </a:rPr>
              <a:t>Small footprint, short tests, battery- &amp; data-aware. A few lines to integrate.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2514600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2514600"/>
            <a:ext cx="3584448" cy="502920"/>
          </a:xfrm>
          <a:prstGeom prst="round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FFFFFF"/>
                </a:solidFill>
              </a:rPr>
              <a:t>Smart data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154680"/>
            <a:ext cx="320040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A2B3C"/>
                </a:solidFill>
                <a:latin typeface="Calibri"/>
              </a:rPr>
              <a:t>Decide on-device. Cache thresholds. Store history only if the developer wants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2514600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2514600"/>
            <a:ext cx="3584448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500">
                <a:solidFill>
                  <a:srgbClr val="FFFFFF"/>
                </a:solidFill>
              </a:rPr>
              <a:t>Resilient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154680"/>
            <a:ext cx="320040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1A2B3C"/>
                </a:solidFill>
                <a:latin typeface="Calibri"/>
              </a:rPr>
              <a:t>Our server + public fallback, cached/bundled profiles, and honest offline handling.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6344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5486400" cy="1234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FA8C9"/>
                </a:solidFill>
                <a:latin typeface="Calibri"/>
              </a:rPr>
              <a:t>Plus — optional readiness answers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A9C0CE"/>
                </a:solidFill>
                <a:latin typeface="Calibri"/>
              </a:rPr>
              <a:t>Ask about a use case and get pass/fail, so developers needn't interpret raw numbers. One handy capability — not the whole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846320"/>
            <a:ext cx="4937760" cy="1051560"/>
          </a:xfrm>
          <a:prstGeom prst="roundRect">
            <a:avLst>
              <a:gd name="adj" fmla="val 4000"/>
            </a:avLst>
          </a:prstGeom>
          <a:solidFill>
            <a:srgbClr val="1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27000" tIns="101600" bIns="101600"/>
          <a:lstStyle/>
          <a:p>
            <a:pPr algn="ctr">
              <a:lnSpc>
                <a:spcPct val="105000"/>
              </a:lnSpc>
            </a:pPr>
            <a:r>
              <a:rPr sz="1400">
                <a:solidFill>
                  <a:srgbClr val="CBE6F2"/>
                </a:solidFill>
                <a:latin typeface="Consolas"/>
              </a:rPr>
              <a:t>pingIt.isReadyFor("VIDEO_CALL")</a:t>
            </a:r>
          </a:p>
          <a:p>
            <a:pPr>
              <a:lnSpc>
                <a:spcPct val="105000"/>
              </a:lnSpc>
            </a:pPr>
            <a:r>
              <a:rPr sz="1400">
                <a:solidFill>
                  <a:srgbClr val="CBE6F2"/>
                </a:solidFill>
                <a:latin typeface="Consolas"/>
              </a:rPr>
              <a:t>        -&gt;  pass /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Features &amp; capabilities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972798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81307"/>
                <a:gridCol w="3033131"/>
                <a:gridCol w="6958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Speed test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Download &amp; upload throughput (Mbps)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F2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Latency test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Round-trip time (ms) via repeated pings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F3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Jitter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Variation between consecutive pings (RFC 3550)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F4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Packet loss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% of probe packets lost (UDP/WebRTC enhancement)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F5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Readiness checks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Pass/fail against named use-case profiles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F6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Quality score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Optional 0–100 score + label for raw output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F7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Configurable history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Dev chooses: none / last-in-cache / full server history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F8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Resilient sources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2B3C"/>
                          </a:solidFill>
                          <a:latin typeface="Calibri"/>
                        </a:rPr>
                        <a:t>Public fallback + explicit offline handling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6B7C8D"/>
                </a:solidFill>
                <a:latin typeface="Calibri"/>
              </a:rPr>
              <a:t>Lightweight &amp; efficient by design — short tests, capped data, battery-aware, optional data-saver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2EB872"/>
                </a:solidFill>
                <a:latin typeface="Calibri"/>
              </a:rPr>
              <a:t>ONE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Readiness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A2B3C"/>
                </a:solidFill>
                <a:latin typeface="Calibri"/>
              </a:rPr>
              <a:t>Ask about a use case; PingIt compares the measurement to that profile's thresholds and returns pass/fail.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576072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3017520"/>
              </a:tblGrid>
              <a:tr h="436880"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Roughly needs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MESSAGING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Any working link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WEB_BROWSING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Modest download, low latency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VOICE_CALL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Low latency &amp; jitter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VIDEO_CALL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Higher up+down, low latency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HD_STREAMING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Higher download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UHD_4K_STREAMING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High sustained download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CLOUD_GAMING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Ultra-low latency &amp; jitter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3688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LIVE_BROADCAST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2B3C"/>
                          </a:solidFill>
                          <a:latin typeface="Calibri"/>
                        </a:rPr>
                        <a:t>High upload + low latency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29400" y="2011680"/>
            <a:ext cx="4983480" cy="1920240"/>
          </a:xfrm>
          <a:prstGeom prst="roundRect">
            <a:avLst>
              <a:gd name="adj" fmla="val 4000"/>
            </a:avLst>
          </a:prstGeom>
          <a:solidFill>
            <a:srgbClr val="1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27000" tIns="101600" bIns="101600"/>
          <a:lstStyle/>
          <a:p>
            <a:pPr algn="ctr"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val ready = pingIt.isReadyFor(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   Profile.CLOUD_GAMING)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if (!ready.passed)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   warn(ready.reason)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   // "latency too high"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   //  or "no connection"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4069080"/>
            <a:ext cx="49834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F2A43"/>
                </a:solidFill>
                <a:latin typeface="Calibri"/>
              </a:rPr>
              <a:t>A check returns: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4434840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1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27000" tIns="101600" bIns="101600"/>
          <a:lstStyle/>
          <a:p>
            <a:pPr algn="ctr">
              <a:lnSpc>
                <a:spcPct val="105000"/>
              </a:lnSpc>
            </a:pPr>
            <a:r>
              <a:rPr sz="1250">
                <a:solidFill>
                  <a:srgbClr val="CBE6F2"/>
                </a:solidFill>
                <a:latin typeface="Consolas"/>
              </a:rPr>
              <a:t>{ profile, passed, reason,</a:t>
            </a:r>
          </a:p>
          <a:p>
            <a:pPr>
              <a:lnSpc>
                <a:spcPct val="105000"/>
              </a:lnSpc>
            </a:pPr>
            <a:r>
              <a:rPr sz="1250">
                <a:solidFill>
                  <a:srgbClr val="CBE6F2"/>
                </a:solidFill>
                <a:latin typeface="Consolas"/>
              </a:rPr>
              <a:t>  measured: { download, upload,</a:t>
            </a:r>
          </a:p>
          <a:p>
            <a:pPr>
              <a:lnSpc>
                <a:spcPct val="105000"/>
              </a:lnSpc>
            </a:pPr>
            <a:r>
              <a:rPr sz="1250">
                <a:solidFill>
                  <a:srgbClr val="CBE6F2"/>
                </a:solidFill>
                <a:latin typeface="Consolas"/>
              </a:rPr>
              <a:t>    latency, jitter, packetLoss }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6B7C8D"/>
                </a:solidFill>
                <a:latin typeface="Calibri"/>
              </a:rPr>
              <a:t>Thresholds live server-side (tunable without an app release); the SDK caches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63A5C"/>
                </a:solidFill>
                <a:latin typeface="Calibri"/>
              </a:rPr>
              <a:t>THE BIG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Read left → right:  the phone measures &amp; decides;  our server is just the target + a tiny config/data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2606040" cy="2240280"/>
          </a:xfrm>
          <a:prstGeom prst="roundRect">
            <a:avLst>
              <a:gd name="adj" fmla="val 10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On the phone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>PingIt SDK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>measures the link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>+ decides pass/fail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98848"/>
            <a:ext cx="26060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1">
                <a:solidFill>
                  <a:srgbClr val="6B7C8D"/>
                </a:solidFill>
                <a:latin typeface="Calibri"/>
              </a:rPr>
              <a:t>All logic runs here — works on weak links.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3017520"/>
            <a:ext cx="548640" cy="502920"/>
          </a:xfrm>
          <a:prstGeom prst="rightArrow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94760" y="1874519"/>
            <a:ext cx="5074920" cy="30175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947672"/>
            <a:ext cx="4800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</a:pPr>
            <a:r>
              <a:rPr sz="1350" b="1" i="0">
                <a:solidFill>
                  <a:srgbClr val="0F2A43"/>
                </a:solidFill>
                <a:latin typeface="Calibri"/>
              </a:rPr>
              <a:t>Measurement Server (ours)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395728"/>
            <a:ext cx="2286000" cy="233172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Measurement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/download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/upload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/ping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/probe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heavy bytes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NO database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395728"/>
            <a:ext cx="2286000" cy="2331720"/>
          </a:xfrm>
          <a:prstGeom prst="roundRect">
            <a:avLst>
              <a:gd name="adj" fmla="val 10000"/>
            </a:avLst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API / data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/profiles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/results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/health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tiny JSON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talks to DB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15400" y="3017520"/>
            <a:ext cx="502920" cy="502920"/>
          </a:xfrm>
          <a:prstGeom prst="rightArrow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09760" y="2240280"/>
            <a:ext cx="2286000" cy="1920240"/>
          </a:xfrm>
          <a:prstGeom prst="roundRect">
            <a:avLst>
              <a:gd name="adj" fmla="val 10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Postgres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>profiles (always)</a:t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1150">
                <a:solidFill>
                  <a:srgbClr val="FFFFFF"/>
                </a:solidFill>
                <a:latin typeface="Calibri"/>
              </a:rPr>
              <a:t>results (optional)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57800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30952"/>
            <a:ext cx="1088136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F2A43"/>
                </a:solidFill>
                <a:latin typeface="Calibri"/>
              </a:rPr>
              <a:t>•  Public fallback (Cloudflare / M-Lab NDT) — used only if our server is down.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0F2A43"/>
                </a:solidFill>
                <a:latin typeface="Calibri"/>
              </a:rPr>
              <a:t>•  Web portal (login-gated) — edits profile thresholds and reads analytics.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LIBRARY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SDK — exposed (developer-facing)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6B7C8D"/>
                </a:solidFill>
                <a:latin typeface="Calibri"/>
              </a:rPr>
              <a:t>The small, stable surface a developer calls. Naming finalised per platform in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00" cy="4160520"/>
          </a:xfrm>
          <a:prstGeom prst="roundRect">
            <a:avLst>
              <a:gd name="adj" fmla="val 4000"/>
            </a:avLst>
          </a:prstGeom>
          <a:solidFill>
            <a:srgbClr val="1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27000" tIns="101600" bIns="101600"/>
          <a:lstStyle/>
          <a:p>
            <a:pPr algn="ctr"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// ---- Setup (appId scopes all data to this app) ------------------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PingIt.init(appId, { historyMode, dataSaver, endpoint })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// ---- Readiness --------------------------------------------------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pingIt.isReadyFor(Profile.VIDEO_CALL)  -&gt; { passed, reason, measured }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// ---- Raw test ---------------------------------------------------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pingIt.runTest()   -&gt; { downloadMbps, uploadMbps, latencyMs, jitterMs,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                       packetLossPct, score, label, timestamp }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pingIt.ping()      -&gt; latencyMs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// ---- History (only when historyMode != NONE) --------------------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pingIt.getHistory(limit)   -&gt; [ past results ]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// ---- Maintenance ------------------------------------------------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pingIt.refreshProfiles()   // force a threshold refresh</a:t>
            </a:r>
          </a:p>
          <a:p>
            <a:pPr>
              <a:lnSpc>
                <a:spcPct val="105000"/>
              </a:lnSpc>
            </a:pPr>
            <a:r>
              <a:rPr sz="1300">
                <a:solidFill>
                  <a:srgbClr val="CBE6F2"/>
                </a:solidFill>
                <a:latin typeface="Consolas"/>
              </a:rPr>
              <a:t>pingIt.cancel()            // abort an in-flight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63A5C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SDK — internal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6B7C8D"/>
                </a:solidFill>
                <a:latin typeface="Calibri"/>
              </a:rPr>
              <a:t>Hidden from the developer; this is where the measuring &amp; decision logic lives.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584448" cy="502920"/>
          </a:xfrm>
          <a:prstGeom prst="round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Measurement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78608"/>
            <a:ext cx="3200400" cy="3337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measureDownload() — stream &amp; time bytes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measureUpload() — push &amp; time bytes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measurePing(n) — RTT samples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computeJitter(samples) — RFC 3550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warmupSkip() — drop TCP slow-start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detectOffline() — no link? stop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965960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1965960"/>
            <a:ext cx="3584448" cy="502920"/>
          </a:xfrm>
          <a:prstGeom prst="round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Decision &amp;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578608"/>
            <a:ext cx="3200400" cy="3337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evaluate(profile, measured) — pass/fail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computeScore(measured) — 0–100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selectTarget() — ours → public fallback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adaptivePayload() — size by link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965960"/>
            <a:ext cx="3584448" cy="40233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965960"/>
            <a:ext cx="3584448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Caching &amp; transport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2578608"/>
            <a:ext cx="3200400" cy="3337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profileCache — TTL + version + jitter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loadBundledDefaults() — offline profiles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lastResultCache — for LAST_LOCAL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outbox — buffer + retry result upload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1A2B3C"/>
                </a:solidFill>
                <a:latin typeface="Consolas"/>
              </a:rPr>
              <a:t>•  httpClient — retries, timeouts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2EB872"/>
                </a:solidFill>
                <a:latin typeface="Calibri"/>
              </a:rPr>
              <a:t>CACHING · HISTORY ·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On-device data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Light by default: decide on-device, cache thresholds, and store history only if the developer asks.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5394960" cy="502920"/>
          </a:xfrm>
          <a:prstGeom prst="round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Cached on the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78608"/>
            <a:ext cx="5010912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Profiles (+ their version)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The last result (for LAST_LOCAL)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A bounded outbox of unsent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394960" cy="502920"/>
          </a:xfrm>
          <a:prstGeom prst="round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Identity without accounts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78608"/>
            <a:ext cx="5010912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appId scopes all data to one app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deviceId = UUID in private storage; survives restarts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IP changing doesn't matter (we key on appId+deviceId)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77639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8A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977639"/>
            <a:ext cx="5394960" cy="502920"/>
          </a:xfrm>
          <a:prstGeom prst="roundRect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History mode — the developer chooses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590287"/>
            <a:ext cx="5010912" cy="1325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68680" y="45720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E5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45720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1A2B3C"/>
                </a:solidFill>
                <a:latin typeface="Calibri"/>
              </a:rPr>
              <a:t>keep nothing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50292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LAST_LOCAL  (default)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50292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1A2B3C"/>
                </a:solidFill>
                <a:latin typeface="Calibri"/>
              </a:rPr>
              <a:t>last result in device cache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4864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SERVER_HISTORY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54864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1A2B3C"/>
                </a:solidFill>
                <a:latin typeface="Calibri"/>
              </a:rPr>
              <a:t>send every result to our server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77639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3977639"/>
            <a:ext cx="5394960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Refresh &amp; server-down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590287"/>
            <a:ext cx="5010912" cy="1325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Profiles refresh ~daily at a RANDOM time (no stampede)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Unsent results buffered + retried in the background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Server down? readiness still works from cached profiles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47A92"/>
                </a:solidFill>
                <a:latin typeface="Calibri"/>
              </a:rPr>
              <a:t>WHAT THE SERVER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Server — functions &amp; endpoints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The server is deliberately “dumb”: it serves bytes and stores/returns JSON. No decision logic lives here — that's on the phone.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49377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7A92"/>
                </a:solidFill>
                <a:latin typeface="Calibri"/>
              </a:rPr>
              <a:t>Measurement endpoints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6B7C8D"/>
                </a:solidFill>
                <a:latin typeface="Calibri"/>
              </a:rPr>
              <a:t>high-bandwidth · short bursts · NO 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983480" cy="3108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GET /download?bytes=N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streams N incompressible bytes → download Mbps (size capped)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POST /upload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reads &amp; discards N bytes (sink) → upload Mbps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GET /ping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tiny 200; called ×10 → latency + jitter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/probe   (enhancement)</a:t>
            </a:r>
          </a:p>
          <a:p>
            <a:pPr algn="l" lvl="1"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UDP/WebRTC echo → packet loss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084831"/>
            <a:ext cx="49377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63A5C"/>
                </a:solidFill>
                <a:latin typeface="Calibri"/>
              </a:rPr>
              <a:t>API / data endpoints</a:t>
            </a:r>
          </a:p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6B7C8D"/>
                </a:solidFill>
                <a:latin typeface="Calibri"/>
              </a:rPr>
              <a:t>low-bandwidth JSON · talks to Postgres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4983480" cy="3108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GET /profiles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all profiles + version; SDK caches &amp; refetches on change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POST /results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validates appId, stamps time, stores (SERVER_HISTORY only)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GET /results?appId&amp;deviceId&amp;limit</a:t>
            </a:r>
          </a:p>
          <a:p>
            <a:pPr algn="l" lvl="1"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6B7C8D"/>
                </a:solidFill>
                <a:latin typeface="Calibri"/>
              </a:rPr>
              <a:t>last N results for that device, scoped by app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0F2A43"/>
                </a:solidFill>
                <a:latin typeface="Consolas"/>
              </a:rPr>
              <a:t>GET /health</a:t>
            </a:r>
          </a:p>
          <a:p>
            <a:pPr algn="l" lvl="1"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200 OK — fallback logic +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F2A43"/>
                </a:solidFill>
                <a:latin typeface="Calibri"/>
              </a:rPr>
              <a:t>POSTGRES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Server — object structure &amp; 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0F2A43"/>
                </a:solidFill>
                <a:latin typeface="Calibri"/>
              </a:rPr>
              <a:t>profiles — tunable thresholds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5394960" cy="1691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5925"/>
                <a:gridCol w="1685925"/>
                <a:gridCol w="2023110"/>
              </a:tblGrid>
              <a:tr h="338328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text (PK)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e.g. VIDEO_CALL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requires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jsonb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min/max per metric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bumped on change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updated_at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timestamptz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0F2A43"/>
                </a:solidFill>
                <a:latin typeface="Calibri"/>
              </a:rPr>
              <a:t>apps — registered developer apps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005072"/>
          <a:ext cx="5394960" cy="1234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5925"/>
                <a:gridCol w="1685925"/>
                <a:gridCol w="2023110"/>
              </a:tblGrid>
              <a:tr h="308610"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app_id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text (PK)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issued in portal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display name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created_at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>timestamptz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481328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0F2A43"/>
                </a:solidFill>
                <a:latin typeface="Calibri"/>
              </a:rPr>
              <a:t>results — history (SERVER_HISTORY only)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828800"/>
          <a:ext cx="5349238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7622"/>
                <a:gridCol w="1443445"/>
                <a:gridCol w="1698171"/>
              </a:tblGrid>
              <a:tr h="375920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bigserial PK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app_id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scopes to an app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device_id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anonymous, persists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download/upload_mbps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latency/jitter_ms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packet_loss_pct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optional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created_at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timestamptz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B3C"/>
                          </a:solidFill>
                          <a:latin typeface="Calibri"/>
                        </a:rPr>
                        <a:t>indexed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0080" y="5440680"/>
            <a:ext cx="10972800" cy="640080"/>
          </a:xfrm>
          <a:prstGeom prst="roundRect">
            <a:avLst>
              <a:gd name="adj" fmla="val 6000"/>
            </a:avLst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77256"/>
            <a:ext cx="1069848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0F2A43"/>
                </a:solidFill>
                <a:latin typeface="Calibri"/>
              </a:rPr>
              <a:t>Index  results(app_id, device_id, created_at DESC)  → “last N for this device” with no sort/scan.   jsonb “requires” adds new metrics with no migration.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2EB872"/>
                </a:solidFill>
                <a:latin typeface="Calibri"/>
              </a:rPr>
              <a:t>SERVER-SIDE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Saving &amp; retrieving data efficiently —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Each path is tuned for its one job: store cheaply, and read the common case for almost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94960" cy="502920"/>
          </a:xfrm>
          <a:prstGeom prst="round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Calibri"/>
              </a:rPr>
              <a:t>Saving data  (write path)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42032"/>
            <a:ext cx="4992624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Measurement traffic never touches the DB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heavy MB bursts would swamp Postgres — streaming is network-bound, kept separate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results is append-only (INSERT only)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no UPDATE/DELETE → no row locks or contention; the index stays healthy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History is opt-in (LAST_LOCAL by default)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most apps write nothing server-side; storage grows only when trends are wanted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Writes batched from the SDK outbox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a closing/offline app never blocks; fewer, larger requests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394960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  <a:latin typeface="Calibri"/>
              </a:rPr>
              <a:t>Retrieving data  (read path)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542032"/>
            <a:ext cx="4992624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Composite index (app_id, device_id, created_at DESC)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the only query is “last N, newest-first” — served directly: no scan, no sort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limit-based pagination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bounded, predictable reads — never “fetch everything”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Profiles cached on-device (version-gated, jittered daily)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thresholds are read constantly but change rarely → we almost never query the DB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0F2A43"/>
                </a:solidFill>
                <a:latin typeface="Calibri"/>
              </a:rPr>
              <a:t>•  jsonb threshold object</a:t>
            </a:r>
          </a:p>
          <a:p>
            <a:pPr algn="l" lvl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6B7C8D"/>
                </a:solidFill>
                <a:latin typeface="Calibri"/>
              </a:rPr>
              <a:t>whole profile in one row; add a new metric with no schema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68112"/>
            <a:ext cx="10972800" cy="59436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86400"/>
            <a:ext cx="1060704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Principle:  read the common case for free (cache),  write only when asked (opt-in),  index for the one query we actually 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Request flow — a CLOUD_GAMING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Fetch profiles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GET /profiles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cached (~daily, random)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67712" y="3063240"/>
            <a:ext cx="274320" cy="41148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95728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App asks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isReadyFor(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CLOUD_GAMING)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60520" y="3063240"/>
            <a:ext cx="274320" cy="41148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88536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Measure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/download, /upload,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/ping ×10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53328" y="3063240"/>
            <a:ext cx="274320" cy="41148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81344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Compare on-device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measured vs cached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46136" y="3063240"/>
            <a:ext cx="274320" cy="41148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4152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Return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{ passed:false,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reason:"latency..." 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838944" y="3063240"/>
            <a:ext cx="274320" cy="41148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966960" y="2514600"/>
            <a:ext cx="1783080" cy="1554480"/>
          </a:xfrm>
          <a:prstGeom prst="roundRect">
            <a:avLst>
              <a:gd name="adj" fmla="val 10000"/>
            </a:avLst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Store (optional)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if SERVER_HISTORY →</a:t>
            </a:r>
          </a:p>
          <a:p>
            <a:pPr algn="ctr"/>
            <a:r>
              <a:rPr sz="950">
                <a:solidFill>
                  <a:srgbClr val="FFFFFF"/>
                </a:solidFill>
                <a:latin typeface="Calibri"/>
              </a:rPr>
              <a:t>POST /results (buffered)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85248" y="219456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26280"/>
            <a:ext cx="11292840" cy="7772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5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62856"/>
            <a:ext cx="1088136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 i="0">
                <a:solidFill>
                  <a:srgbClr val="E55B5B"/>
                </a:solidFill>
                <a:latin typeface="Calibri"/>
              </a:rPr>
              <a:t>No connection at all  →  can't measure  →  return { passed:false, reason:"no connection" }.  Never a fake pass.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6B7C8D"/>
                </a:solidFill>
                <a:latin typeface="Calibri"/>
              </a:rPr>
              <a:t>Why decide on-device (step 4)? The connection under test may be weak — the answer must not depend on a server round-trip.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2EB872"/>
                </a:solidFill>
                <a:latin typeface="Calibri"/>
              </a:rPr>
              <a:t>FALLBACK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Resilience &amp; no single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0F2A43"/>
                </a:solidFill>
                <a:latin typeface="Calibri"/>
              </a:rPr>
              <a:t>Measurement target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926080" cy="868680"/>
          </a:xfrm>
          <a:prstGeom prst="roundRect">
            <a:avLst>
              <a:gd name="adj" fmla="val 10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 · Our server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GET /health OK?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11880" y="2084831"/>
            <a:ext cx="640080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874519"/>
            <a:ext cx="2926080" cy="86868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· Public endpoint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Cloudflare / NDT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69480" y="2084831"/>
            <a:ext cx="640080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1874519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Method-based result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valid numbers either 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0F2A43"/>
                </a:solidFill>
                <a:latin typeface="Calibri"/>
              </a:rPr>
              <a:t>Profiles (thresholds) selection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40"/>
            <a:ext cx="2926080" cy="868680"/>
          </a:xfrm>
          <a:prstGeom prst="roundRect">
            <a:avLst>
              <a:gd name="adj" fmla="val 10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 · /profiles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fresh from server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11880" y="3502152"/>
            <a:ext cx="640080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3291840"/>
            <a:ext cx="2926080" cy="86868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· Cached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last good copy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69480" y="3502152"/>
            <a:ext cx="640080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55279" y="329184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· Bundled defaults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ship-with-SDK values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5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10607040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E55B5B"/>
                </a:solidFill>
                <a:latin typeface="Calibri"/>
              </a:rPr>
              <a:t>No connection at all  →  there is nothing to measure (it isn't “0”, it's unknown).  PingIt returns reason:"no connection" — it does NOT fake a pass.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94960"/>
            <a:ext cx="10972800" cy="685800"/>
          </a:xfrm>
          <a:prstGeom prst="roundRect">
            <a:avLst>
              <a:gd name="adj" fmla="val 6000"/>
            </a:avLst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31536"/>
            <a:ext cx="10607040" cy="6126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0" i="0">
                <a:solidFill>
                  <a:srgbClr val="0F2A43"/>
                </a:solidFill>
                <a:latin typeface="Calibri"/>
              </a:rPr>
              <a:t>So: with a live connection, checks keep working even if our server is down (cached/bundled profiles). With no connection, we report offline honestly. No single point of failure.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BATTERY · DATA · FLAKY NETS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Lightweight &amp; mobile-aware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37360"/>
            <a:ext cx="530352" cy="530352"/>
          </a:xfrm>
          <a:prstGeom prst="ellipse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907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Adaptive, capped payloads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Start /download small, grow only on fast links; cap total test data to a few MB.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154680"/>
            <a:ext cx="530352" cy="530352"/>
          </a:xfrm>
          <a:prstGeom prst="ellipse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313639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Short tests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A few seconds total: quick bursts, not background polling.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572000"/>
            <a:ext cx="530352" cy="530352"/>
          </a:xfrm>
          <a:prstGeom prst="ellipse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455371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Warm-up awareness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Ignore the first moments so TCP slow-start doesn't make fast links look slow.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1737360"/>
            <a:ext cx="530352" cy="530352"/>
          </a:xfrm>
          <a:prstGeom prst="ellipse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171907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Battery-aware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Runs only when the developer asks; no idle drain.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3154680"/>
            <a:ext cx="530352" cy="530352"/>
          </a:xfrm>
          <a:prstGeom prst="ellipse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5432" y="313639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Cache + jittered refresh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Profiles fetched ~daily at a random time, not per check; saves data and battery.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4572000"/>
            <a:ext cx="530352" cy="530352"/>
          </a:xfrm>
          <a:prstGeom prst="ellipse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1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4553712"/>
            <a:ext cx="461772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2A43"/>
                </a:solidFill>
                <a:latin typeface="Calibri"/>
              </a:rPr>
              <a:t>Data-saver mode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Optional smaller payloads / shorter tests for metered plans; can follow the OS flag.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E8A83A"/>
                </a:solidFill>
                <a:latin typeface="Calibri"/>
              </a:rPr>
              <a:t>KEEPING IT CHEAP &amp;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Solutions — data cost &amp; abuse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8A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94960" cy="502920"/>
          </a:xfrm>
          <a:prstGeom prst="roundRect">
            <a:avLst/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Mobile data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5010912" cy="342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Adaptive, capped payloads — a few MB max per test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Data-saver mode: smaller payloads / shorter tests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Developer can wire it to the OS data-saver flag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Short tests — quick bursts, never background polling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394960" cy="41148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E5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394960" cy="502920"/>
          </a:xfrm>
          <a:prstGeom prst="roundRect">
            <a:avLst/>
          </a:prstGeom>
          <a:solidFill>
            <a:srgbClr val="E5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Abuse protection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395728"/>
            <a:ext cx="5010912" cy="3429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API key (appId) required — unknown callers rejected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Rate limiting per appId and per IP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Payload caps — server refuses oversized 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1A2B3C"/>
                </a:solidFill>
                <a:latin typeface="Calibri"/>
              </a:rPr>
              <a:t>•  Monitoring via /health to catch abnormal bandwidth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63A5C"/>
                </a:solidFill>
                <a:latin typeface="Calibri"/>
              </a:rPr>
              <a:t>LOGIN-GATED WEB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The portal — functions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84448" cy="502920"/>
          </a:xfrm>
          <a:prstGeom prst="round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Profile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50008"/>
            <a:ext cx="3200400" cy="2514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View / edit thresholds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Create &amp; retire profiles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Bump version + publish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Diff &amp; rollback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73736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737360"/>
            <a:ext cx="3584448" cy="502920"/>
          </a:xfrm>
          <a:prstGeom prst="round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Analytics &amp;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350008"/>
            <a:ext cx="3200400" cy="2514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Trends: speed / latency over time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Pass-rate per profile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Per-app (scoped) views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Export CSV / 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73736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737360"/>
            <a:ext cx="3584448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50">
                <a:solidFill>
                  <a:srgbClr val="FFFFFF"/>
                </a:solidFill>
                <a:latin typeface="Calibri"/>
              </a:rPr>
              <a:t>Apps, health &amp;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6" y="2350008"/>
            <a:ext cx="3200400" cy="2514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Register apps → issue appId / API key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Server / endpoint uptime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Bandwidth &amp; fallback rate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Crash &amp; error reports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7492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2A43"/>
                </a:solidFill>
                <a:latin typeface="Calibri"/>
              </a:rPr>
              <a:t>Who can enter, and how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PingIt operators / admins  sign in to edit profiles &amp; watch health.   Registered developers  sign in to get an appId and see THEIR app's analytics only.</a:t>
            </a:r>
          </a:p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1A2B3C"/>
                </a:solidFill>
                <a:latin typeface="Calibri"/>
              </a:rPr>
              <a:t>•  Access is scoped by role and by appId — a developer never sees another app's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DRAWING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The portal — schematic wireframe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109728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73152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Calibri"/>
              </a:rPr>
              <a:t>PingIt · Admin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600200"/>
            <a:ext cx="27432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1050" b="0" i="0">
                <a:solidFill>
                  <a:srgbClr val="A9C0CE"/>
                </a:solidFill>
                <a:latin typeface="Calibri"/>
              </a:rPr>
              <a:t>signed in: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2194560" cy="406908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2240280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1A2B3C"/>
                </a:solidFill>
                <a:latin typeface="Calibri"/>
              </a:rPr>
              <a:t>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07208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1FA8C9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 i="0">
                <a:solidFill>
                  <a:srgbClr val="FFFFFF"/>
                </a:solidFill>
                <a:latin typeface="Calibri"/>
              </a:rPr>
              <a:t>Profiles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74136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74136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1A2B3C"/>
                </a:solidFill>
                <a:latin typeface="Calibri"/>
              </a:rPr>
              <a:t>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41064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41064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1A2B3C"/>
                </a:solidFill>
                <a:latin typeface="Calibri"/>
              </a:rPr>
              <a:t>Apps &amp; keys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07992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07992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1A2B3C"/>
                </a:solidFill>
                <a:latin typeface="Calibri"/>
              </a:rPr>
              <a:t>Health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074920"/>
            <a:ext cx="19202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178308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0">
                <a:solidFill>
                  <a:srgbClr val="1A2B3C"/>
                </a:solidFill>
                <a:latin typeface="Calibri"/>
              </a:rPr>
              <a:t>Crashes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2240280"/>
            <a:ext cx="1965960" cy="1005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2331720"/>
            <a:ext cx="17373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2A43"/>
                </a:solidFill>
                <a:latin typeface="Calibri"/>
              </a:rPr>
              <a:t>12,480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7C8D"/>
                </a:solidFill>
                <a:latin typeface="Calibri"/>
              </a:rPr>
              <a:t>Tests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4648" y="2240280"/>
            <a:ext cx="1965960" cy="1005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2331720"/>
            <a:ext cx="17373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2A43"/>
                </a:solidFill>
                <a:latin typeface="Calibri"/>
              </a:rPr>
              <a:t>78%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7C8D"/>
                </a:solidFill>
                <a:latin typeface="Calibri"/>
              </a:rPr>
              <a:t>Pass rate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06056" y="2240280"/>
            <a:ext cx="1965960" cy="1005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43216" y="2331720"/>
            <a:ext cx="17373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2A43"/>
                </a:solidFill>
                <a:latin typeface="Calibri"/>
              </a:rPr>
              <a:t>46 ms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7C8D"/>
                </a:solidFill>
                <a:latin typeface="Calibri"/>
              </a:rPr>
              <a:t>Avg latency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27464" y="2240280"/>
            <a:ext cx="1965960" cy="100584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4624" y="2331720"/>
            <a:ext cx="17373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F2A43"/>
                </a:solidFill>
                <a:latin typeface="Calibri"/>
              </a:rPr>
              <a:t>2.1%</a:t>
            </a:r>
          </a:p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6B7C8D"/>
                </a:solidFill>
                <a:latin typeface="Calibri"/>
              </a:rPr>
              <a:t>Fallback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3429000"/>
            <a:ext cx="4114800" cy="246888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6120" y="35204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F2A43"/>
                </a:solidFill>
                <a:latin typeface="Calibri"/>
              </a:rPr>
              <a:t>Profile editor  ·  VIDEO_CALL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6120" y="3977639"/>
            <a:ext cx="3749039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0" y="3977639"/>
            <a:ext cx="356616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2B3C"/>
                </a:solidFill>
                <a:latin typeface="Consolas"/>
              </a:rPr>
              <a:t>downloadMbps  min  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46120" y="4398263"/>
            <a:ext cx="3749039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0" y="4398263"/>
            <a:ext cx="356616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2B3C"/>
                </a:solidFill>
                <a:latin typeface="Consolas"/>
              </a:rPr>
              <a:t>uploadMbps    min  1.0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818887"/>
            <a:ext cx="3749039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0" y="4818887"/>
            <a:ext cx="356616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2B3C"/>
                </a:solidFill>
                <a:latin typeface="Consolas"/>
              </a:rPr>
              <a:t>latencyMs     max  200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6120" y="5239511"/>
            <a:ext cx="3749039" cy="3474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3280" y="5239511"/>
            <a:ext cx="3566160" cy="3474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 i="0">
                <a:solidFill>
                  <a:srgbClr val="1A2B3C"/>
                </a:solidFill>
                <a:latin typeface="Consolas"/>
              </a:rPr>
              <a:t>jitterMs      max  40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60920" y="3429000"/>
            <a:ext cx="4114800" cy="246888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35204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F2A43"/>
                </a:solidFill>
                <a:latin typeface="Calibri"/>
              </a:rPr>
              <a:t>Latency trend (7 days)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5029200"/>
            <a:ext cx="384048" cy="64008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65592" y="4754880"/>
            <a:ext cx="384048" cy="9144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95944" y="5120640"/>
            <a:ext cx="384048" cy="54864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26296" y="4480560"/>
            <a:ext cx="384048" cy="118872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56648" y="4846320"/>
            <a:ext cx="384048" cy="82296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87000" y="4297680"/>
            <a:ext cx="384048" cy="13716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17352" y="4663440"/>
            <a:ext cx="384048" cy="100584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63A5C"/>
                </a:solidFill>
                <a:latin typeface="Calibri"/>
              </a:rPr>
              <a:t>REQUIRED RESEARCH · DEVICE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Research — data we can read from an Android device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What the platform lets us collect to understand network conditions (privacy-safe, no PII).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584448" cy="502920"/>
          </a:xfrm>
          <a:prstGeom prst="roundRect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50">
                <a:solidFill>
                  <a:srgbClr val="FFFFFF"/>
                </a:solidFill>
              </a:rPr>
              <a:t>Connectivity &amp;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606040"/>
            <a:ext cx="3273552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ConnectivityManager /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NetworkCapabilities: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WIFI / CELLULAR, metered flag,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up/down bandwidth hints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TelephonyManager: LTE/5G,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carrier, SIM country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96596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1965960"/>
            <a:ext cx="3584448" cy="502920"/>
          </a:xfrm>
          <a:prstGeom prst="round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50">
                <a:solidFill>
                  <a:srgbClr val="FFFFFF"/>
                </a:solidFill>
              </a:rPr>
              <a:t>Signal &amp; radio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606040"/>
            <a:ext cx="3273552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SignalStrength /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CellSignalStrength: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RSRP, RSRQ, dBm, level 0-4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WifiManager / WifiInfo: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RSSI, link speed,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frequency (2.4 / 5 GHz)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96596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9050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965960"/>
            <a:ext cx="3584448" cy="502920"/>
          </a:xfrm>
          <a:prstGeom prst="roundRect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50">
                <a:solidFill>
                  <a:srgbClr val="FFFFFF"/>
                </a:solidFill>
              </a:rPr>
              <a:t>Device &amp;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06040"/>
            <a:ext cx="3273552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Build: model, manufacturer,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  API level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Battery state, power-save mode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App foreground / background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A2B3C"/>
                </a:solidFill>
                <a:latin typeface="Consolas"/>
              </a:rPr>
              <a:t>Network-change callbacks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731520"/>
          </a:xfrm>
          <a:prstGeom prst="roundRect">
            <a:avLst>
              <a:gd name="adj" fmla="val 6000"/>
            </a:avLst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106070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0F2A43"/>
                </a:solidFill>
                <a:latin typeface="Calibri"/>
              </a:rPr>
              <a:t>Privacy: no precise location, no PII. Anonymous deviceId only — analytics correlate network conditions with outcomes, not users.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E55B5B"/>
                </a:solidFill>
                <a:latin typeface="Calibri"/>
              </a:rPr>
              <a:t>REQUIRED RESEARCH ·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Research — catch bugs &amp; upload before the app closes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1A2B3C"/>
                </a:solidFill>
                <a:latin typeface="Calibri"/>
              </a:rPr>
              <a:t>A crash or a swipe-away kills the process before data is sent. The fix is persist-first, upload-later.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Catch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Thread.setDefaultUncaught-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ExceptionHandler grabs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uncaught exceptions + stack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27832" y="2834640"/>
            <a:ext cx="329184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224028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Persist now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Write crash + last result to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local disk SYNCHRONOUSLY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(survives process death)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6752" y="2834640"/>
            <a:ext cx="329184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224028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E8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Flush on stop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Lifecycle ON_STOP /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onTrimMemory → best-effort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flush of buffered results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05672" y="2834640"/>
            <a:ext cx="329184" cy="457200"/>
          </a:xfrm>
          <a:prstGeom prst="rightArrow">
            <a:avLst/>
          </a:prstGeom>
          <a:solidFill>
            <a:srgbClr val="6B7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06840" y="2240280"/>
            <a:ext cx="2606040" cy="1691640"/>
          </a:xfrm>
          <a:prstGeom prst="roundRect">
            <a:avLst>
              <a:gd name="adj" fmla="val 10000"/>
            </a:avLst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Retry upload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WorkManager re-sends on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next launch / network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Calibri"/>
              </a:rPr>
              <a:t>→ guaranteed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2A43"/>
                </a:solidFill>
                <a:latin typeface="Calibri"/>
              </a:rPr>
              <a:t>Also handled: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ANR detection (main-thread watchdog) and caught non-fatal errors logged as breadcrumbs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In-flight test state saved, so a test interrupted by a crash isn't reported as a false failure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1A2B3C"/>
                </a:solidFill>
                <a:latin typeface="Calibri"/>
              </a:rPr>
              <a:t>•  Bounded local queue + exponential backoff so retries never drain battery or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63A5C"/>
                </a:solidFill>
                <a:latin typeface="Calibri"/>
              </a:rPr>
              <a:t>HOW WE'LL BUILD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Tech stack (proposed)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97280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291840"/>
                <a:gridCol w="5303520"/>
              </a:tblGrid>
              <a:tr h="470262">
                <a:tc>
                  <a:txBody>
                    <a:bodyPr wrap="square"/>
                    <a:lstStyle/>
                    <a:p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anchor="ctr" marL="88900" marR="63500" marT="38100" marB="38100">
                    <a:solidFill>
                      <a:srgbClr val="0F2A43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SDK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iOS (Swift), Android (Kotlin)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Shared core (Kotlin Multiplatform) TBD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Measurement server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Node.js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Simple streaming; Go is the scale path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API server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Node.js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Keep simple; can split out later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Postgres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jsonb thresholds + optional history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HTTPS (+ UDP/WebRTC)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HTTPS for speed/ping; UDP for packet loss</a:t>
                      </a:r>
                    </a:p>
                  </a:txBody>
                  <a:tcPr anchor="ctr" marL="88900" marR="63500" marT="25400" marB="25400">
                    <a:solidFill>
                      <a:srgbClr val="F4F7F9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Hosting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Cloud region near users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2B3C"/>
                          </a:solidFill>
                          <a:latin typeface="Calibri"/>
                        </a:rPr>
                        <a:t>Low, consistent measurement latency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21208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Calibri"/>
              </a:rPr>
              <a:t>Light, efficient, resilient — measure the connection, decide on-device, and store only what's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A8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1FA8C9"/>
                </a:solidFill>
                <a:latin typeface="Calibri"/>
              </a:rPr>
              <a:t>WHO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66928"/>
            <a:ext cx="113385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 i="0">
                <a:solidFill>
                  <a:srgbClr val="0F2A43"/>
                </a:solidFill>
                <a:latin typeface="Calibri"/>
              </a:rPr>
              <a:t>Applications that can use PingIt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35024"/>
            <a:ext cx="11155680" cy="25400"/>
          </a:xfrm>
          <a:prstGeom prst="rect">
            <a:avLst/>
          </a:prstGeom>
          <a:solidFill>
            <a:srgbClr val="E6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048256"/>
            <a:ext cx="566928" cy="566928"/>
          </a:xfrm>
          <a:prstGeom prst="ellipse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37944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Messaging / chat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Check the link before sync; warn on dead links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91640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35424" y="2048256"/>
            <a:ext cx="566928" cy="566928"/>
          </a:xfrm>
          <a:prstGeom prst="ellipse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1837944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VoIP / calling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Warn before a weak voice or video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91640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7888" y="2048256"/>
            <a:ext cx="566928" cy="566928"/>
          </a:xfrm>
          <a:prstGeom prst="ellipse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1837944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Video streaming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Pick HD vs SD from measured download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36392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" y="3493008"/>
            <a:ext cx="566928" cy="566928"/>
          </a:xfrm>
          <a:prstGeom prst="ellipse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82696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Cloud / file backup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Defer big uploads until the link is strong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2544" y="3136392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35424" y="3493008"/>
            <a:ext cx="566928" cy="566928"/>
          </a:xfrm>
          <a:prstGeom prst="ellipse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6944" y="3282696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Cloud gaming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Gate on ultra-low latency and jitter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3136392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47888" y="3493008"/>
            <a:ext cx="566928" cy="566928"/>
          </a:xfrm>
          <a:prstGeom prst="ellipse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3282696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Live broadcasting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Check upload before going live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581144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2EB8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4937760"/>
            <a:ext cx="566928" cy="566928"/>
          </a:xfrm>
          <a:prstGeom prst="ellipse">
            <a:avLst/>
          </a:prstGeom>
          <a:solidFill>
            <a:srgbClr val="2EB8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727448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Telehealth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Video visits: check call quality first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2544" y="4581144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35424" y="4937760"/>
            <a:ext cx="566928" cy="566928"/>
          </a:xfrm>
          <a:prstGeom prst="ellipse">
            <a:avLst/>
          </a:prstGeom>
          <a:solidFill>
            <a:srgbClr val="1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4727448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IoT / field apps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Confirm the link before sending sensor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4581144"/>
            <a:ext cx="3584448" cy="1280160"/>
          </a:xfrm>
          <a:prstGeom prst="roundRect">
            <a:avLst>
              <a:gd name="adj" fmla="val 6000"/>
            </a:avLst>
          </a:prstGeom>
          <a:solidFill>
            <a:srgbClr val="F4F7F9"/>
          </a:solidFill>
          <a:ln w="15875">
            <a:solidFill>
              <a:srgbClr val="147A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47888" y="4937760"/>
            <a:ext cx="566928" cy="566928"/>
          </a:xfrm>
          <a:prstGeom prst="ellipse">
            <a:avLst/>
          </a:prstGeom>
          <a:solidFill>
            <a:srgbClr val="147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4727448"/>
            <a:ext cx="2487168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0F2A43"/>
                </a:solidFill>
                <a:latin typeface="Calibri"/>
              </a:rPr>
              <a:t>Maps / navigation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6B7C8D"/>
                </a:solidFill>
                <a:latin typeface="Calibri"/>
              </a:rPr>
              <a:t>Weak data: switch to offline tiles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55664"/>
            <a:ext cx="15544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Bef>
                <a:spcPts val="0"/>
              </a:spcBef>
            </a:pPr>
            <a:r>
              <a:rPr sz="850" b="0" i="0">
                <a:solidFill>
                  <a:srgbClr val="6B7C8D"/>
                </a:solidFill>
                <a:latin typeface="Calibri"/>
              </a:rPr>
              <a:t>PingIt SDK   · 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