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598"/>
  </p:normalViewPr>
  <p:slideViewPr>
    <p:cSldViewPr snapToGrid="0" snapToObjects="1">
      <p:cViewPr varScale="1">
        <p:scale>
          <a:sx n="119" d="100"/>
          <a:sy n="119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2E83C-E684-5247-B383-DA2C7BCF0CAE}" type="datetimeFigureOut">
              <a:rPr lang="en-IL" smtClean="0"/>
              <a:t>16/06/2026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EF543-AFBA-2B41-81AE-A22FD1AAF8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426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EF543-AFBA-2B41-81AE-A22FD1AAF87E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507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 dirty="0">
                <a:solidFill>
                  <a:srgbClr val="1FA8C9"/>
                </a:solidFill>
                <a:latin typeface="Calibri"/>
              </a:rPr>
              <a:t>MOBILE SDK  ·  PROPOSAL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5600" b="1" i="0">
                <a:solidFill>
                  <a:srgbClr val="FFFFFF"/>
                </a:solidFill>
                <a:latin typeface="Calibri"/>
              </a:rPr>
              <a:t>PingIt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24128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 i="1">
                <a:solidFill>
                  <a:srgbClr val="A9C0CE"/>
                </a:solidFill>
                <a:latin typeface="Calibri"/>
              </a:rPr>
              <a:t>A lightweight SDK that measures real connection quality on mobile —</a:t>
            </a:r>
          </a:p>
          <a:p>
            <a:pPr algn="l">
              <a:spcBef>
                <a:spcPts val="0"/>
              </a:spcBef>
            </a:pPr>
            <a:r>
              <a:rPr sz="2100" b="0" i="1">
                <a:solidFill>
                  <a:srgbClr val="A9C0CE"/>
                </a:solidFill>
                <a:latin typeface="Calibri"/>
              </a:rPr>
              <a:t>efficiently, and without depending on any single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058400" cy="58221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FFFFFF"/>
                </a:solidFill>
                <a:latin typeface="Calibri"/>
              </a:rPr>
              <a:t>Tom Bitran</a:t>
            </a:r>
            <a:endParaRPr lang="en-US" sz="18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</a:pPr>
            <a:endParaRPr lang="en-US" sz="1400" b="0" i="0" dirty="0">
              <a:solidFill>
                <a:srgbClr val="A9C0CE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9464040" y="960120"/>
            <a:ext cx="2103120" cy="2103120"/>
          </a:xfrm>
          <a:prstGeom prst="ellipse">
            <a:avLst/>
          </a:prstGeom>
          <a:noFill/>
          <a:ln w="25400">
            <a:solidFill>
              <a:srgbClr val="9F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4080" y="1280160"/>
            <a:ext cx="1463040" cy="1463040"/>
          </a:xfrm>
          <a:prstGeom prst="ellipse">
            <a:avLst/>
          </a:prstGeom>
          <a:noFill/>
          <a:ln w="31750">
            <a:solidFill>
              <a:srgbClr val="5FB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81260" y="1577340"/>
            <a:ext cx="868680" cy="868680"/>
          </a:xfrm>
          <a:prstGeom prst="ellipse">
            <a:avLst/>
          </a:prstGeom>
          <a:noFill/>
          <a:ln w="38100">
            <a:solidFill>
              <a:srgbClr val="1FA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78440" y="1874520"/>
            <a:ext cx="274320" cy="274320"/>
          </a:xfrm>
          <a:prstGeom prst="ellipse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E8A83A"/>
                </a:solidFill>
                <a:latin typeface="Calibr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The problem &amp; the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0F2A43"/>
                </a:solidFill>
                <a:latin typeface="Calibri"/>
              </a:rPr>
              <a:t>Mobile networks are unpredictable — and apps can't tell what they can handle.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84448" cy="2743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E8A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997963" y="2606040"/>
            <a:ext cx="868680" cy="868680"/>
          </a:xfrm>
          <a:prstGeom prst="ellipse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00">
                <a:solidFill>
                  <a:srgbClr val="FFFFFF"/>
                </a:solidFill>
                <a:latin typeface="Calibri"/>
              </a:rPr>
              <a:t>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03320"/>
            <a:ext cx="321868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0F2A43"/>
                </a:solidFill>
                <a:latin typeface="Calibri"/>
              </a:rPr>
              <a:t>Networks vary wildly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206240"/>
            <a:ext cx="2944368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6B7C8D"/>
                </a:solidFill>
                <a:latin typeface="Calibri"/>
              </a:rPr>
              <a:t>cellular ↔ wifi, moving between cells, weak signal, dead zones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286000"/>
            <a:ext cx="3584448" cy="2743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E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0427" y="2606040"/>
            <a:ext cx="868680" cy="868680"/>
          </a:xfrm>
          <a:prstGeom prst="ellipse">
            <a:avLst/>
          </a:prstGeom>
          <a:solidFill>
            <a:srgbClr val="E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0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3703320"/>
            <a:ext cx="321868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0F2A43"/>
                </a:solidFill>
                <a:latin typeface="Calibri"/>
              </a:rPr>
              <a:t>Apps are flying 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4206240"/>
            <a:ext cx="2944368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6B7C8D"/>
                </a:solidFill>
                <a:latin typeface="Calibri"/>
              </a:rPr>
              <a:t>no lightweight “can the network handle this?” check exists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2286000"/>
            <a:ext cx="3584448" cy="2743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22891" y="2606040"/>
            <a:ext cx="868680" cy="868680"/>
          </a:xfrm>
          <a:prstGeom prst="ellipse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00" dirty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3703320"/>
            <a:ext cx="321868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0F2A43"/>
                </a:solidFill>
                <a:latin typeface="Calibri"/>
              </a:rPr>
              <a:t>Hard to do 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7" y="4206240"/>
            <a:ext cx="2944368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6B7C8D"/>
                </a:solidFill>
                <a:latin typeface="Calibri"/>
              </a:rPr>
              <a:t>slow-start, flaky nets, data cost — and you need a target to measure against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85232"/>
            <a:ext cx="10972800" cy="749808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106070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PingIt gives them a lightweight read of the connection — and a clear answer — in a few lines.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A8C9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The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700" b="0" i="0">
                <a:solidFill>
                  <a:srgbClr val="1A2B3C"/>
                </a:solidFill>
                <a:latin typeface="Calibri"/>
              </a:rPr>
              <a:t>PingIt is a lightweight mobile SDK that measures the real quality of a device's internet connection — download, upload, latency, jitter (and packet loss).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84448" cy="1874519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FA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584448" cy="502920"/>
          </a:xfrm>
          <a:prstGeom prst="round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Lightweight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32004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A2B3C"/>
                </a:solidFill>
                <a:latin typeface="Calibri"/>
              </a:rPr>
              <a:t>Small footprint, short tests, battery- &amp; data-aware. A few lines to integrate.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514600"/>
            <a:ext cx="3584448" cy="1874519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2544" y="2514600"/>
            <a:ext cx="3584448" cy="502920"/>
          </a:xfrm>
          <a:prstGeom prst="round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Smart data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154680"/>
            <a:ext cx="32004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A2B3C"/>
                </a:solidFill>
                <a:latin typeface="Calibri"/>
              </a:rPr>
              <a:t>Decide on-device. Cache thresholds. Store history only if the developer wants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514600"/>
            <a:ext cx="3584448" cy="1874519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5008" y="2514600"/>
            <a:ext cx="3584448" cy="502920"/>
          </a:xfrm>
          <a:prstGeom prst="round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Resilient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3154680"/>
            <a:ext cx="32004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A2B3C"/>
                </a:solidFill>
                <a:latin typeface="Calibri"/>
              </a:rPr>
              <a:t>Our server + public fallback, cached/bundled profiles, and honest offline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773168"/>
            <a:ext cx="5486400" cy="1234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A8C9"/>
                </a:solidFill>
                <a:latin typeface="Calibri"/>
              </a:rPr>
              <a:t>Plus — optional readiness answers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A9C0CE"/>
                </a:solidFill>
                <a:latin typeface="Calibri"/>
              </a:rPr>
              <a:t>Ask about a use case and get pass/fail, so developers needn't interpret raw numbers. One handy capability — not the whole product.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846320"/>
            <a:ext cx="4937760" cy="1051560"/>
          </a:xfrm>
          <a:prstGeom prst="roundRect">
            <a:avLst>
              <a:gd name="adj" fmla="val 4000"/>
            </a:avLst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27000" bIns="101600" rtlCol="0" anchor="t"/>
          <a:lstStyle/>
          <a:p>
            <a:pPr algn="ctr">
              <a:lnSpc>
                <a:spcPct val="105000"/>
              </a:lnSpc>
            </a:pPr>
            <a:r>
              <a:rPr sz="1400">
                <a:solidFill>
                  <a:srgbClr val="CBE6F2"/>
                </a:solidFill>
                <a:latin typeface="Consolas"/>
              </a:rPr>
              <a:t>pingIt.isReadyFor("VIDEO_CALL")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CBE6F2"/>
                </a:solidFill>
                <a:latin typeface="Consolas"/>
              </a:rPr>
              <a:t>        -&gt;  pass / 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A8C9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Features &amp;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72798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1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8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Speed test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Download &amp; upload throughput (Mbps)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Latency test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Round-trip time (ms) via repeated pings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Jitter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Variation between consecutive pings (RFC 3550)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Packet loss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% of probe packets lost (UDP/WebRTC enhancement)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F5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Readiness checks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Pass/fail against named use-case profiles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F6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Quality score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Optional 0–100 score + label for raw output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F7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Configurable history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Dev chooses: none / last-in-cache / full server history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F8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Resilient sources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B3C"/>
                          </a:solidFill>
                          <a:latin typeface="Calibri"/>
                        </a:rPr>
                        <a:t>Public fallback + explicit offline handling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6B7C8D"/>
                </a:solidFill>
                <a:latin typeface="Calibri"/>
              </a:rPr>
              <a:t>Lightweight &amp; efficient by design — short tests, capped data, battery-aware, optional data-saver mode.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EB872"/>
                </a:solidFill>
                <a:latin typeface="Calibri"/>
              </a:rPr>
              <a:t>ONE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Readiness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1A2B3C"/>
                </a:solidFill>
                <a:latin typeface="Calibri"/>
              </a:rPr>
              <a:t>Ask about a use case; PingIt compares the measurement to that profile's thresholds and returns pass/fail.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576072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Roughly needs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MESSAGING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Any working link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WEB_BROWSING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Modest download, low latency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VOICE_CALL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Low latency &amp; jitter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VIDEO_CALL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Higher up+down, low latency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HD_STREAMING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Higher download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UHD_4K_STREAMING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High sustained download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CLOUD_GAMING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Ultra-low latency &amp; jitter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LIVE_BROADCAST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B3C"/>
                          </a:solidFill>
                          <a:latin typeface="Calibri"/>
                        </a:rPr>
                        <a:t>High upload + low latency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29400" y="2011680"/>
            <a:ext cx="4983480" cy="1920240"/>
          </a:xfrm>
          <a:prstGeom prst="roundRect">
            <a:avLst>
              <a:gd name="adj" fmla="val 4000"/>
            </a:avLst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27000" bIns="101600" rtlCol="0" anchor="t"/>
          <a:lstStyle/>
          <a:p>
            <a:pPr algn="ctr">
              <a:lnSpc>
                <a:spcPct val="105000"/>
              </a:lnSpc>
            </a:pPr>
            <a:r>
              <a:rPr sz="1300">
                <a:solidFill>
                  <a:srgbClr val="CBE6F2"/>
                </a:solidFill>
                <a:latin typeface="Consolas"/>
              </a:rPr>
              <a:t>val ready = pingIt.isReadyFor(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CBE6F2"/>
                </a:solidFill>
                <a:latin typeface="Consolas"/>
              </a:rPr>
              <a:t>    Profile.CLOUD_GAMING)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CBE6F2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CBE6F2"/>
                </a:solidFill>
                <a:latin typeface="Consolas"/>
              </a:rPr>
              <a:t>if (!ready.passed)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CBE6F2"/>
                </a:solidFill>
                <a:latin typeface="Consolas"/>
              </a:rPr>
              <a:t>    warn(ready.reason)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CBE6F2"/>
                </a:solidFill>
                <a:latin typeface="Consolas"/>
              </a:rPr>
              <a:t>    // "latency too high"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CBE6F2"/>
                </a:solidFill>
                <a:latin typeface="Consolas"/>
              </a:rPr>
              <a:t>    //  or "no connection"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069080"/>
            <a:ext cx="49834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F2A43"/>
                </a:solidFill>
                <a:latin typeface="Calibri"/>
              </a:rPr>
              <a:t>A check returns: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43484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27000" bIns="101600" rtlCol="0" anchor="t"/>
          <a:lstStyle/>
          <a:p>
            <a:pPr algn="ctr">
              <a:lnSpc>
                <a:spcPct val="105000"/>
              </a:lnSpc>
            </a:pPr>
            <a:r>
              <a:rPr sz="1250">
                <a:solidFill>
                  <a:srgbClr val="CBE6F2"/>
                </a:solidFill>
                <a:latin typeface="Consolas"/>
              </a:rPr>
              <a:t>{ profile, passed, reason,</a:t>
            </a:r>
          </a:p>
          <a:p>
            <a:pPr>
              <a:lnSpc>
                <a:spcPct val="105000"/>
              </a:lnSpc>
            </a:pPr>
            <a:r>
              <a:rPr sz="1250">
                <a:solidFill>
                  <a:srgbClr val="CBE6F2"/>
                </a:solidFill>
                <a:latin typeface="Consolas"/>
              </a:rPr>
              <a:t>  measured: { download, upload,</a:t>
            </a:r>
          </a:p>
          <a:p>
            <a:pPr>
              <a:lnSpc>
                <a:spcPct val="105000"/>
              </a:lnSpc>
            </a:pPr>
            <a:r>
              <a:rPr sz="1250">
                <a:solidFill>
                  <a:srgbClr val="CBE6F2"/>
                </a:solidFill>
                <a:latin typeface="Consolas"/>
              </a:rPr>
              <a:t>    latency, jitter, packetLoss }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6B7C8D"/>
                </a:solidFill>
                <a:latin typeface="Calibri"/>
              </a:rPr>
              <a:t>Thresholds live server-side (tunable without an app release); the SDK caches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63A5C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A2B3C"/>
                </a:solidFill>
                <a:latin typeface="Calibri"/>
              </a:rPr>
              <a:t>Read left → right:  the phone measures &amp; decides;  our server is just the target + a tiny config/data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606040" cy="22402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On the phone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Calibri"/>
              </a:rPr>
              <a:t>PingIt SDK</a:t>
            </a:r>
          </a:p>
          <a:p>
            <a:pPr algn="ctr"/>
            <a:endParaRPr sz="115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150">
                <a:solidFill>
                  <a:srgbClr val="FFFFFF"/>
                </a:solidFill>
                <a:latin typeface="Calibri"/>
              </a:rPr>
              <a:t>measures the link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Calibri"/>
              </a:rPr>
              <a:t>+ decides pass/fail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98848"/>
            <a:ext cx="26060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1">
                <a:solidFill>
                  <a:srgbClr val="6B7C8D"/>
                </a:solidFill>
                <a:latin typeface="Calibri"/>
              </a:rPr>
              <a:t>All logic runs here — works on weak links.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3017520"/>
            <a:ext cx="548640" cy="502920"/>
          </a:xfrm>
          <a:prstGeom prst="rightArrow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874519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1947672"/>
            <a:ext cx="4800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0F2A43"/>
                </a:solidFill>
                <a:latin typeface="Calibri"/>
              </a:rPr>
              <a:t>Measurement Server (ours)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395728"/>
            <a:ext cx="2286000" cy="2331720"/>
          </a:xfrm>
          <a:prstGeom prst="roundRect">
            <a:avLst>
              <a:gd name="adj" fmla="val 10000"/>
            </a:avLst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Measurement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/download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/upload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/ping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/probe</a:t>
            </a:r>
          </a:p>
          <a:p>
            <a:pPr algn="ctr"/>
            <a:endParaRPr sz="105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heavy bytes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NO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395728"/>
            <a:ext cx="2286000" cy="2331720"/>
          </a:xfrm>
          <a:prstGeom prst="roundRect">
            <a:avLst>
              <a:gd name="adj" fmla="val 10000"/>
            </a:avLst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API / data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/profiles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/results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/health</a:t>
            </a:r>
          </a:p>
          <a:p>
            <a:pPr algn="ctr"/>
            <a:endParaRPr sz="1050">
              <a:solidFill>
                <a:srgbClr val="FFFFFF"/>
              </a:solidFill>
              <a:latin typeface="Calibri"/>
            </a:endParaRPr>
          </a:p>
          <a:p>
            <a:pPr algn="ctr"/>
            <a:endParaRPr sz="105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tiny JSON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talks to DB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15400" y="3017520"/>
            <a:ext cx="502920" cy="502920"/>
          </a:xfrm>
          <a:prstGeom prst="rightArrow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09760" y="2240280"/>
            <a:ext cx="2286000" cy="192024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Postgres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Calibri"/>
              </a:rPr>
              <a:t>profiles (always)</a:t>
            </a:r>
          </a:p>
          <a:p>
            <a:pPr algn="ctr"/>
            <a:endParaRPr sz="115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150">
                <a:solidFill>
                  <a:srgbClr val="FFFFFF"/>
                </a:solidFill>
                <a:latin typeface="Calibri"/>
              </a:rPr>
              <a:t>results (optional)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57800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330952"/>
            <a:ext cx="1088136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2A43"/>
                </a:solidFill>
                <a:latin typeface="Calibri"/>
              </a:rPr>
              <a:t>•  Public fallback (Cloudflare / M-Lab NDT) — used only if our server is down.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0F2A43"/>
                </a:solidFill>
                <a:latin typeface="Calibri"/>
              </a:rPr>
              <a:t>•  Web portal (login-gated) — edits profile thresholds and reads analytics.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A8C9"/>
                </a:solidFill>
                <a:latin typeface="Calibri"/>
              </a:rPr>
              <a:t>LIBRARY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SDK — exposed (developer-facing)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6B7C8D"/>
                </a:solidFill>
                <a:latin typeface="Calibri"/>
              </a:rPr>
              <a:t>The small, stable surface a developer calls. Naming finalised per platform in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72800" cy="4160520"/>
          </a:xfrm>
          <a:prstGeom prst="roundRect">
            <a:avLst>
              <a:gd name="adj" fmla="val 4000"/>
            </a:avLst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27000" bIns="101600" rtlCol="0" anchor="t"/>
          <a:lstStyle/>
          <a:p>
            <a:pPr algn="ctr"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// ---- Setup (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appId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 scopes all data to this app) ------------------</a:t>
            </a:r>
          </a:p>
          <a:p>
            <a:pPr>
              <a:lnSpc>
                <a:spcPct val="105000"/>
              </a:lnSpc>
            </a:pPr>
            <a:r>
              <a:rPr sz="1300" dirty="0" err="1">
                <a:solidFill>
                  <a:srgbClr val="CBE6F2"/>
                </a:solidFill>
                <a:latin typeface="Consolas"/>
              </a:rPr>
              <a:t>PingIt.init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appId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 {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historyMode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dataSaver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 endpoint })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// ---- Readiness --------------------------------------------------</a:t>
            </a:r>
          </a:p>
          <a:p>
            <a:pPr>
              <a:lnSpc>
                <a:spcPct val="105000"/>
              </a:lnSpc>
            </a:pPr>
            <a:r>
              <a:rPr sz="1300" dirty="0" err="1">
                <a:solidFill>
                  <a:srgbClr val="CBE6F2"/>
                </a:solidFill>
                <a:latin typeface="Consolas"/>
              </a:rPr>
              <a:t>pingIt.isReadyFor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Profile.VIDEO_CALL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)  -&gt; { passed, reason, measured }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// ---- Raw test ---------------------------------------------------</a:t>
            </a:r>
          </a:p>
          <a:p>
            <a:pPr>
              <a:lnSpc>
                <a:spcPct val="105000"/>
              </a:lnSpc>
            </a:pPr>
            <a:r>
              <a:rPr sz="1300" dirty="0" err="1">
                <a:solidFill>
                  <a:srgbClr val="CBE6F2"/>
                </a:solidFill>
                <a:latin typeface="Consolas"/>
              </a:rPr>
              <a:t>pingIt.runTest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()   -&gt; {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downloadMbps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uploadMbps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latencyMs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jitterMs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                       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packetLossPct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, score, label, timestamp }</a:t>
            </a:r>
          </a:p>
          <a:p>
            <a:pPr>
              <a:lnSpc>
                <a:spcPct val="105000"/>
              </a:lnSpc>
            </a:pPr>
            <a:r>
              <a:rPr sz="1300" dirty="0" err="1">
                <a:solidFill>
                  <a:srgbClr val="CBE6F2"/>
                </a:solidFill>
                <a:latin typeface="Consolas"/>
              </a:rPr>
              <a:t>pingIt.ping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()      -&gt;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latencyMs</a:t>
            </a:r>
            <a:endParaRPr sz="1300" dirty="0">
              <a:solidFill>
                <a:srgbClr val="CBE6F2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// ---- History (only when </a:t>
            </a:r>
            <a:r>
              <a:rPr sz="1300" dirty="0" err="1">
                <a:solidFill>
                  <a:srgbClr val="CBE6F2"/>
                </a:solidFill>
                <a:latin typeface="Consolas"/>
              </a:rPr>
              <a:t>historyMode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 != NONE) --------------------</a:t>
            </a:r>
          </a:p>
          <a:p>
            <a:pPr>
              <a:lnSpc>
                <a:spcPct val="105000"/>
              </a:lnSpc>
            </a:pPr>
            <a:r>
              <a:rPr sz="1300" dirty="0" err="1">
                <a:solidFill>
                  <a:srgbClr val="CBE6F2"/>
                </a:solidFill>
                <a:latin typeface="Consolas"/>
              </a:rPr>
              <a:t>pingIt.getHistory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(limit)   -&gt; [ past results ]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300" dirty="0">
                <a:solidFill>
                  <a:srgbClr val="CBE6F2"/>
                </a:solidFill>
                <a:latin typeface="Consolas"/>
              </a:rPr>
              <a:t>// ---- Maintenance ------------------------------------------------</a:t>
            </a:r>
          </a:p>
          <a:p>
            <a:pPr>
              <a:lnSpc>
                <a:spcPct val="105000"/>
              </a:lnSpc>
            </a:pPr>
            <a:r>
              <a:rPr sz="1300" dirty="0" err="1">
                <a:solidFill>
                  <a:srgbClr val="CBE6F2"/>
                </a:solidFill>
                <a:latin typeface="Consolas"/>
              </a:rPr>
              <a:t>pingIt.refreshProfiles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()   // force a threshold refresh</a:t>
            </a:r>
          </a:p>
          <a:p>
            <a:pPr>
              <a:lnSpc>
                <a:spcPct val="105000"/>
              </a:lnSpc>
            </a:pPr>
            <a:r>
              <a:rPr sz="1300" dirty="0" err="1">
                <a:solidFill>
                  <a:srgbClr val="CBE6F2"/>
                </a:solidFill>
                <a:latin typeface="Consolas"/>
              </a:rPr>
              <a:t>pingIt.cancel</a:t>
            </a:r>
            <a:r>
              <a:rPr sz="1300" dirty="0">
                <a:solidFill>
                  <a:srgbClr val="CBE6F2"/>
                </a:solidFill>
                <a:latin typeface="Consolas"/>
              </a:rPr>
              <a:t>()            // abort an in-flight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63A5C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SDK — internal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6B7C8D"/>
                </a:solidFill>
                <a:latin typeface="Calibri"/>
              </a:rPr>
              <a:t>Hidden from the developer; this is where the measuring &amp; decision logic lives.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84448" cy="40233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584448" cy="502920"/>
          </a:xfrm>
          <a:prstGeom prst="roundRect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Measurement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3200400" cy="3337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measureDownload() — stream &amp; time bytes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measureUpload() — push &amp; time bytes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measurePing(n) — RTT samples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computeJitter(samples) — RFC 3550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warmupSkip() — drop TCP slow-start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detectOffline() — no link? stop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965960"/>
            <a:ext cx="3584448" cy="40233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2544" y="1965960"/>
            <a:ext cx="3584448" cy="502920"/>
          </a:xfrm>
          <a:prstGeom prst="round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Decision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78608"/>
            <a:ext cx="3200400" cy="3337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evaluate(profile, measured) — pass/fail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computeScore(measured) — 0–100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selectTarget() — ours → public fallback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adaptivePayload() — size by link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965960"/>
            <a:ext cx="3584448" cy="40233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5008" y="1965960"/>
            <a:ext cx="3584448" cy="502920"/>
          </a:xfrm>
          <a:prstGeom prst="round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Caching &amp; 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578608"/>
            <a:ext cx="3200400" cy="3337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profileCache — TTL + version + jitter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loadBundledDefaults() — offline profiles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lastResultCache — for LAST_LOCAL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outbox — buffer + retry result upload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1A2B3C"/>
                </a:solidFill>
                <a:latin typeface="Consolas"/>
              </a:rPr>
              <a:t>•  httpClient — retries, timeouts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EB872"/>
                </a:solidFill>
                <a:latin typeface="Calibri"/>
              </a:rPr>
              <a:t>CACHING · HISTORY ·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On-device data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A2B3C"/>
                </a:solidFill>
                <a:latin typeface="Calibri"/>
              </a:rPr>
              <a:t>Light by default: decide on-device, cache thresholds, and store history only if the developer 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94960" cy="502920"/>
          </a:xfrm>
          <a:prstGeom prst="roundRect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Cached on the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5010912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B3C"/>
                </a:solidFill>
                <a:latin typeface="Calibri"/>
              </a:rPr>
              <a:t>•  Profiles (+ their version)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B3C"/>
                </a:solidFill>
                <a:latin typeface="Calibri"/>
              </a:rPr>
              <a:t>•  The last result (for LAST_LOCAL)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B3C"/>
                </a:solidFill>
                <a:latin typeface="Calibri"/>
              </a:rPr>
              <a:t>•  A bounded outbox of unsent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394960" cy="502920"/>
          </a:xfrm>
          <a:prstGeom prst="round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Identity without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78608"/>
            <a:ext cx="5010912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dirty="0">
                <a:solidFill>
                  <a:srgbClr val="1A2B3C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1A2B3C"/>
                </a:solidFill>
                <a:latin typeface="Calibri"/>
              </a:rPr>
              <a:t>appId</a:t>
            </a:r>
            <a:r>
              <a:rPr sz="1250" b="0" i="0" dirty="0">
                <a:solidFill>
                  <a:srgbClr val="1A2B3C"/>
                </a:solidFill>
                <a:latin typeface="Calibri"/>
              </a:rPr>
              <a:t> scopes all data to one app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dirty="0">
                <a:solidFill>
                  <a:srgbClr val="1A2B3C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1A2B3C"/>
                </a:solidFill>
                <a:latin typeface="Calibri"/>
              </a:rPr>
              <a:t>deviceId</a:t>
            </a:r>
            <a:r>
              <a:rPr sz="1250" b="0" i="0" dirty="0">
                <a:solidFill>
                  <a:srgbClr val="1A2B3C"/>
                </a:solidFill>
                <a:latin typeface="Calibri"/>
              </a:rPr>
              <a:t> = UUID in private storage; survives restarts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dirty="0">
                <a:solidFill>
                  <a:srgbClr val="1A2B3C"/>
                </a:solidFill>
                <a:latin typeface="Calibri"/>
              </a:rPr>
              <a:t>•  IP changing doesn't matter (we key on </a:t>
            </a:r>
            <a:r>
              <a:rPr sz="1250" b="0" i="0" dirty="0" err="1">
                <a:solidFill>
                  <a:srgbClr val="1A2B3C"/>
                </a:solidFill>
                <a:latin typeface="Calibri"/>
              </a:rPr>
              <a:t>appId+deviceId</a:t>
            </a:r>
            <a:r>
              <a:rPr sz="1250" b="0" i="0" dirty="0">
                <a:solidFill>
                  <a:srgbClr val="1A2B3C"/>
                </a:solidFill>
                <a:latin typeface="Calibri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E8A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5394960" cy="502920"/>
          </a:xfrm>
          <a:prstGeom prst="round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History mode — the developer chooses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590287"/>
            <a:ext cx="5010912" cy="1325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45720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E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572000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A2B3C"/>
                </a:solidFill>
                <a:latin typeface="Calibri"/>
              </a:rPr>
              <a:t>keep nothing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29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LAST_LOCAL  (default)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029200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A2B3C"/>
                </a:solidFill>
                <a:latin typeface="Calibri"/>
              </a:rPr>
              <a:t>last result in device cache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4864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SERVER_HISTORY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486400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A2B3C"/>
                </a:solidFill>
                <a:latin typeface="Calibri"/>
              </a:rPr>
              <a:t>send every result to our server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77639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3977639"/>
            <a:ext cx="5394960" cy="502920"/>
          </a:xfrm>
          <a:prstGeom prst="round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Refresh &amp; server-down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590287"/>
            <a:ext cx="5010912" cy="1325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B3C"/>
                </a:solidFill>
                <a:latin typeface="Calibri"/>
              </a:rPr>
              <a:t>•  Profiles refresh ~daily at a RANDOM time (no stampede)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B3C"/>
                </a:solidFill>
                <a:latin typeface="Calibri"/>
              </a:rPr>
              <a:t>•  Unsent results buffered + retried in the background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B3C"/>
                </a:solidFill>
                <a:latin typeface="Calibri"/>
              </a:rPr>
              <a:t>•  Server down? readiness still works from cached profiles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47A92"/>
                </a:solidFill>
                <a:latin typeface="Calibri"/>
              </a:rPr>
              <a:t>WHAT THE SERVER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Server — functions &amp;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A2B3C"/>
                </a:solidFill>
                <a:latin typeface="Calibri"/>
              </a:rPr>
              <a:t>The server is deliberately “dumb”: it serves bytes and stores/returns JSON. No decision logic lives here — that's on the 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49377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7A92"/>
                </a:solidFill>
                <a:latin typeface="Calibri"/>
              </a:rPr>
              <a:t>Measurement endpoints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6B7C8D"/>
                </a:solidFill>
                <a:latin typeface="Calibri"/>
              </a:rPr>
              <a:t>high-bandwidth · short bursts · NO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983480" cy="3108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GET /download?bytes=N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6B7C8D"/>
                </a:solidFill>
                <a:latin typeface="Calibri"/>
              </a:rPr>
              <a:t>streams N incompressible bytes → download Mbps (size capped)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POST /upload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6B7C8D"/>
                </a:solidFill>
                <a:latin typeface="Calibri"/>
              </a:rPr>
              <a:t>reads &amp; discards N bytes (sink) → upload Mbps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GET /ping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6B7C8D"/>
                </a:solidFill>
                <a:latin typeface="Calibri"/>
              </a:rPr>
              <a:t>tiny 200; called ×10 → latency + jitter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/probe   (enhancement)</a:t>
            </a:r>
          </a:p>
          <a:p>
            <a:pPr lvl="1" algn="l"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UDP/WebRTC echo → packet loss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084831"/>
            <a:ext cx="49377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3A5C"/>
                </a:solidFill>
                <a:latin typeface="Calibri"/>
              </a:rPr>
              <a:t>API / data endpoints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6B7C8D"/>
                </a:solidFill>
                <a:latin typeface="Calibri"/>
              </a:rPr>
              <a:t>low-bandwidth JSON · talks to Postgres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4983480" cy="3108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GET /profiles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6B7C8D"/>
                </a:solidFill>
                <a:latin typeface="Calibri"/>
              </a:rPr>
              <a:t>all profiles + version; SDK caches &amp; refetches on change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POST /results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6B7C8D"/>
                </a:solidFill>
                <a:latin typeface="Calibri"/>
              </a:rPr>
              <a:t>validates appId, stamps time, stores (SERVER_HISTORY only)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GET /results?appId&amp;deviceId&amp;limit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6B7C8D"/>
                </a:solidFill>
                <a:latin typeface="Calibri"/>
              </a:rPr>
              <a:t>last N results for that device, scoped by app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A43"/>
                </a:solidFill>
                <a:latin typeface="Consolas"/>
              </a:rPr>
              <a:t>GET /health</a:t>
            </a:r>
          </a:p>
          <a:p>
            <a:pPr lvl="1" algn="l"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200 OK — fallback logic +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F2A43"/>
                </a:solidFill>
                <a:latin typeface="Calibri"/>
              </a:rPr>
              <a:t>POSTGRES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Server — object structure &amp;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2A43"/>
                </a:solidFill>
                <a:latin typeface="Calibri"/>
              </a:rPr>
              <a:t>profiles — tunable thresholds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5394960" cy="1691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3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text (PK)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e.g. VIDEO_CALL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requires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jsonb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min/max per metric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bumped on change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updated_at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timestamptz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2A43"/>
                </a:solidFill>
                <a:latin typeface="Calibri"/>
              </a:rPr>
              <a:t>apps — registered developer apps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005072"/>
          <a:ext cx="5394960" cy="12509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3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app_id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text (PK)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issued in portal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display name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created_at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B3C"/>
                          </a:solidFill>
                          <a:latin typeface="Calibri"/>
                        </a:rPr>
                        <a:t>timestamptz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481328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2A43"/>
                </a:solidFill>
                <a:latin typeface="Calibri"/>
              </a:rPr>
              <a:t>results — history (SERVER_HISTORY only)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828800"/>
          <a:ext cx="5349238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7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bigserial PK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app_id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scopes to an app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device_id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anonymous, persists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download/upload_mbps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latency/jitter_ms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packet_loss_pct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created_at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timestamptz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2B3C"/>
                          </a:solidFill>
                          <a:latin typeface="Calibri"/>
                        </a:rPr>
                        <a:t>indexed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5440680"/>
            <a:ext cx="10972800" cy="640080"/>
          </a:xfrm>
          <a:prstGeom prst="roundRect">
            <a:avLst>
              <a:gd name="adj" fmla="val 6000"/>
            </a:avLst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477256"/>
            <a:ext cx="10698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0F2A43"/>
                </a:solidFill>
                <a:latin typeface="Calibri"/>
              </a:rPr>
              <a:t>Index  results(app_id, device_id, created_at DESC)  → “last N for this device” with no sort/scan.   jsonb “requires” adds new metrics with no migration.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EB872"/>
                </a:solidFill>
                <a:latin typeface="Calibri"/>
              </a:rPr>
              <a:t>SERVER-SIDE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Saving &amp; retrieving data efficiently —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A2B3C"/>
                </a:solidFill>
                <a:latin typeface="Calibri"/>
              </a:rPr>
              <a:t>Each path is tuned for its one job: store cheaply, and read the common case for almost 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3429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94960" cy="502920"/>
          </a:xfrm>
          <a:prstGeom prst="roundRect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Saving data  (write path)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42032"/>
            <a:ext cx="4992624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Measurement traffic never touches the DB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heavy MB bursts would swamp Postgres — streaming is network-bound, kept separate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results is append-only (INSERT only)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no UPDATE/DELETE → no row locks or contention; the index stays healthy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History is opt-in (LAST_LOCAL by default)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most apps write nothing server-side; storage grows only when trends are wanted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Writes batched from the SDK outbox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a closing/offline app never blocks; fewer, larger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94960" cy="3429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394960" cy="502920"/>
          </a:xfrm>
          <a:prstGeom prst="round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Retrieving data  (read path)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92624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Composite index (app_id, device_id, created_at DESC)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the only query is “last N, newest-first” — served directly: no scan, no sort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limit-based pagination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bounded, predictable reads — never “fetch everything”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Profiles cached on-device (version-gated, jittered daily)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thresholds are read constantly but change rarely → we almost never query the DB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•  jsonb threshold object</a:t>
            </a:r>
          </a:p>
          <a:p>
            <a:pPr lvl="1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6B7C8D"/>
                </a:solidFill>
                <a:latin typeface="Calibri"/>
              </a:rPr>
              <a:t>whole profile in one row; add a new metric with no schema migration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68112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486400"/>
            <a:ext cx="106070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Principle:  read the common case for free (cache),  write only when asked (opt-in),  index for the one query we actually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A8C9"/>
                </a:solidFill>
                <a:latin typeface="Calibri"/>
              </a:rPr>
              <a:t>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Request flow — a CLOUD_GAMING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Fetch profiles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GET /profiles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cached (~daily, random)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67712" y="3063240"/>
            <a:ext cx="274320" cy="41148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95728" y="251460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App asks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isReadyFor(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CLOUD_GAMING)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3063240"/>
            <a:ext cx="274320" cy="41148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88536" y="251460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Measure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/download, /upload,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/ping ×10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3328" y="3063240"/>
            <a:ext cx="274320" cy="41148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1344" y="251460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Compare on-device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measured vs cached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thresholds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46136" y="3063240"/>
            <a:ext cx="274320" cy="41148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74152" y="251460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Return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{ passed:false,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reason:"latency..." 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38944" y="3063240"/>
            <a:ext cx="274320" cy="41148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66960" y="251460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Store (optional)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if SERVER_HISTORY →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Calibri"/>
              </a:rPr>
              <a:t>POST /results (buffered)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85248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26280"/>
            <a:ext cx="11292840" cy="7772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E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562856"/>
            <a:ext cx="1088136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55B5B"/>
                </a:solidFill>
                <a:latin typeface="Calibri"/>
              </a:rPr>
              <a:t>No connection at all  →  can't measure  →  return { passed:false, reason:"no connection" }.  Never a fake pass.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6B7C8D"/>
                </a:solidFill>
                <a:latin typeface="Calibri"/>
              </a:rPr>
              <a:t>Why decide on-device (step 4)? The connection under test may be weak — the answer must not depend on a server round-trip.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EB872"/>
                </a:solidFill>
                <a:latin typeface="Calibri"/>
              </a:rPr>
              <a:t>FALLBACK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Resilience &amp; no single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2A43"/>
                </a:solidFill>
                <a:latin typeface="Calibri"/>
              </a:rPr>
              <a:t>Measurement target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926080" cy="8686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· Our server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GET /health OK?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11880" y="2084831"/>
            <a:ext cx="640080" cy="45720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97680" y="1874519"/>
            <a:ext cx="2926080" cy="868680"/>
          </a:xfrm>
          <a:prstGeom prst="roundRect">
            <a:avLst>
              <a:gd name="adj" fmla="val 10000"/>
            </a:avLst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· Public endpoint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Cloudflare / NDT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69480" y="2084831"/>
            <a:ext cx="640080" cy="45720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55279" y="1874519"/>
            <a:ext cx="3657600" cy="868680"/>
          </a:xfrm>
          <a:prstGeom prst="roundRect">
            <a:avLst>
              <a:gd name="adj" fmla="val 10000"/>
            </a:avLst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Method-based result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valid numbers either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972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2A43"/>
                </a:solidFill>
                <a:latin typeface="Calibri"/>
              </a:rPr>
              <a:t>Profiles (thresholds)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2926080" cy="868680"/>
          </a:xfrm>
          <a:prstGeom prst="roundRect">
            <a:avLst>
              <a:gd name="adj" fmla="val 10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· /profiles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fresh from server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11880" y="3502152"/>
            <a:ext cx="640080" cy="45720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3291840"/>
            <a:ext cx="2926080" cy="868680"/>
          </a:xfrm>
          <a:prstGeom prst="roundRect">
            <a:avLst>
              <a:gd name="adj" fmla="val 10000"/>
            </a:avLst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· Cached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last good copy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69480" y="3502152"/>
            <a:ext cx="640080" cy="45720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79" y="3291840"/>
            <a:ext cx="3657600" cy="868680"/>
          </a:xfrm>
          <a:prstGeom prst="roundRect">
            <a:avLst>
              <a:gd name="adj" fmla="val 10000"/>
            </a:avLst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· Bundled defaults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ship-with-SDK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E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10607040" cy="7498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55B5B"/>
                </a:solidFill>
                <a:latin typeface="Calibri"/>
              </a:rPr>
              <a:t>No connection at all  →  there is nothing to measure (it isn't “0”, it's unknown).  PingIt returns reason:"no connection" — it does NOT fake a pass.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9496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431536"/>
            <a:ext cx="10607040" cy="6126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0F2A43"/>
                </a:solidFill>
                <a:latin typeface="Calibri"/>
              </a:rPr>
              <a:t>So: with a live connection, checks keep working even if our server is down (cached/bundled profiles). With no connection, we report offline honestly. No single point of failure.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A8C9"/>
                </a:solidFill>
                <a:latin typeface="Calibri"/>
              </a:rPr>
              <a:t>BATTERY · DATA · FLAKY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Lightweight &amp; mobile-aware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530352" cy="530352"/>
          </a:xfrm>
          <a:prstGeom prst="ellipse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19072"/>
            <a:ext cx="4617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Adaptive, capped payloads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Start /download small, grow only on fast links; cap total test data to a few MB.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54680"/>
            <a:ext cx="530352" cy="530352"/>
          </a:xfrm>
          <a:prstGeom prst="ellipse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3136392"/>
            <a:ext cx="4617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Short tests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A few seconds total — quick bursts, not background polling.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572000"/>
            <a:ext cx="530352" cy="530352"/>
          </a:xfrm>
          <a:prstGeom prst="ellipse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4553712"/>
            <a:ext cx="4617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Warm-up awareness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Ignore the first moments so TCP slow-start doesn't make fast links look slow.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1737360"/>
            <a:ext cx="530352" cy="530352"/>
          </a:xfrm>
          <a:prstGeom prst="ellipse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e-IL" sz="2100" dirty="0">
                <a:solidFill>
                  <a:srgbClr val="FFFFFF"/>
                </a:solidFill>
                <a:latin typeface="Calibri"/>
              </a:rPr>
              <a:t>%</a:t>
            </a:r>
            <a:endParaRPr sz="2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85432" y="1719072"/>
            <a:ext cx="4617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 dirty="0">
                <a:solidFill>
                  <a:srgbClr val="0F2A43"/>
                </a:solidFill>
                <a:latin typeface="Calibri"/>
              </a:rPr>
              <a:t>Battery-aware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 dirty="0">
                <a:solidFill>
                  <a:srgbClr val="6B7C8D"/>
                </a:solidFill>
                <a:latin typeface="Calibri"/>
              </a:rPr>
              <a:t>Runs only when the developer asks; no idle drain.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3154680"/>
            <a:ext cx="530352" cy="530352"/>
          </a:xfrm>
          <a:prstGeom prst="ellipse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3136392"/>
            <a:ext cx="4617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Cache + jittered refresh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Profiles fetched ~daily at a random time, not per check — saves data + battery.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4572000"/>
            <a:ext cx="530352" cy="530352"/>
          </a:xfrm>
          <a:prstGeom prst="ellipse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100">
                <a:solidFill>
                  <a:srgbClr val="FFFFFF"/>
                </a:solidFill>
                <a:latin typeface="Calibri"/>
              </a:rPr>
              <a:t>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4553712"/>
            <a:ext cx="46177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2A43"/>
                </a:solidFill>
                <a:latin typeface="Calibri"/>
              </a:rPr>
              <a:t>Data-saver mode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Optional smaller payloads / shorter tests for metered plans; can follow the OS flag.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E8A83A"/>
                </a:solidFill>
                <a:latin typeface="Calibri"/>
              </a:rPr>
              <a:t>KEEPING IT CHEAP &amp;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Solutions — data cost &amp; abuse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E8A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502920"/>
          </a:xfrm>
          <a:prstGeom prst="roundRect">
            <a:avLst/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Mobile data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5010912" cy="3429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Adaptive, capped payloads — a few MB max per test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Data-saver mode: smaller payloads / shorter tests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Developer can wire it to the OS data-saver flag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Short tests — quick bursts, never background polling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E5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94960" cy="502920"/>
          </a:xfrm>
          <a:prstGeom prst="roundRect">
            <a:avLst/>
          </a:prstGeom>
          <a:solidFill>
            <a:srgbClr val="E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Abuse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95728"/>
            <a:ext cx="5010912" cy="3429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API key (appId) required — unknown callers rejected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Rate limiting per appId and per IP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Payload caps — server refuses oversized 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A2B3C"/>
                </a:solidFill>
                <a:latin typeface="Calibri"/>
              </a:rPr>
              <a:t>•  Monitoring via /health to catch abnormal bandwidth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63A5C"/>
                </a:solidFill>
                <a:latin typeface="Calibri"/>
              </a:rPr>
              <a:t>LOGIN-GATED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The portal — functions &amp;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84448" cy="502920"/>
          </a:xfrm>
          <a:prstGeom prst="roundRect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Profile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50008"/>
            <a:ext cx="3200400" cy="2514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View / edit thresholds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Create &amp; retire profiles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Bump version + publish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Diff &amp; rollback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52544" y="1737360"/>
            <a:ext cx="3584448" cy="502920"/>
          </a:xfrm>
          <a:prstGeom prst="round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Analytics &amp;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50008"/>
            <a:ext cx="3200400" cy="2514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Trends: speed / latency over time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Pass-rate per profile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Per-app (scoped) views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Export CSV /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73736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65008" y="1737360"/>
            <a:ext cx="3584448" cy="502920"/>
          </a:xfrm>
          <a:prstGeom prst="round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Apps, health &amp;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350008"/>
            <a:ext cx="3200400" cy="2514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Register apps → issue appId / API key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Server / endpoint uptime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Bandwidth &amp; fallback rate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Crash &amp; error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10972800" cy="1005840"/>
          </a:xfrm>
          <a:prstGeom prst="roundRect">
            <a:avLst>
              <a:gd name="adj" fmla="val 6000"/>
            </a:avLst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138928"/>
            <a:ext cx="106070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2A43"/>
                </a:solidFill>
                <a:latin typeface="Calibri"/>
              </a:rPr>
              <a:t>Who can enter, and how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PingIt operators / admins  sign in to edit profiles &amp; watch health.   Registered developers  sign in to get an appId and see THEIR app's analytics only.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2B3C"/>
                </a:solidFill>
                <a:latin typeface="Calibri"/>
              </a:rPr>
              <a:t>•  Access is scoped by role and by appId — a developer never sees another app's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A8C9"/>
                </a:solidFill>
                <a:latin typeface="Calibri"/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The portal — schematic wireframe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PingIt ·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0020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A9C0CE"/>
                </a:solidFill>
                <a:latin typeface="Calibri"/>
              </a:rPr>
              <a:t>signed in: admin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2194560" cy="406908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240280"/>
            <a:ext cx="19202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78308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A2B3C"/>
                </a:solidFill>
                <a:latin typeface="Calibr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07208"/>
            <a:ext cx="1920240" cy="438912"/>
          </a:xfrm>
          <a:prstGeom prst="roundRect">
            <a:avLst>
              <a:gd name="adj" fmla="val 6000"/>
            </a:avLst>
          </a:prstGeom>
          <a:solidFill>
            <a:srgbClr val="1FA8C9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178308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6"/>
            <a:ext cx="19202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178308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A2B3C"/>
                </a:solidFill>
                <a:latin typeface="Calibri"/>
              </a:rPr>
              <a:t>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41064"/>
            <a:ext cx="19202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41064"/>
            <a:ext cx="178308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A2B3C"/>
                </a:solidFill>
                <a:latin typeface="Calibri"/>
              </a:rPr>
              <a:t>Apps &amp; keys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07992"/>
            <a:ext cx="19202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07992"/>
            <a:ext cx="178308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A2B3C"/>
                </a:solidFill>
                <a:latin typeface="Calibri"/>
              </a:rPr>
              <a:t>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74920"/>
            <a:ext cx="192024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783080" cy="4389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A2B3C"/>
                </a:solidFill>
                <a:latin typeface="Calibri"/>
              </a:rPr>
              <a:t>Crashes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2240280"/>
            <a:ext cx="1965960" cy="1005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2331720"/>
            <a:ext cx="1737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A43"/>
                </a:solidFill>
                <a:latin typeface="Calibri"/>
              </a:rPr>
              <a:t>12,480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7C8D"/>
                </a:solidFill>
                <a:latin typeface="Calibri"/>
              </a:rPr>
              <a:t>Tests today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4648" y="2240280"/>
            <a:ext cx="1965960" cy="1005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21808" y="2331720"/>
            <a:ext cx="1737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A43"/>
                </a:solidFill>
                <a:latin typeface="Calibri"/>
              </a:rPr>
              <a:t>78%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7C8D"/>
                </a:solidFill>
                <a:latin typeface="Calibri"/>
              </a:rPr>
              <a:t>Pass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06056" y="2240280"/>
            <a:ext cx="1965960" cy="1005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43216" y="2331720"/>
            <a:ext cx="1737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A43"/>
                </a:solidFill>
                <a:latin typeface="Calibri"/>
              </a:rPr>
              <a:t>46 ms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7C8D"/>
                </a:solidFill>
                <a:latin typeface="Calibri"/>
              </a:rPr>
              <a:t>Avg latency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27464" y="2240280"/>
            <a:ext cx="1965960" cy="1005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64624" y="2331720"/>
            <a:ext cx="1737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F2A43"/>
                </a:solidFill>
                <a:latin typeface="Calibri"/>
              </a:rPr>
              <a:t>2.1%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6B7C8D"/>
                </a:solidFill>
                <a:latin typeface="Calibri"/>
              </a:rPr>
              <a:t>Fallback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3429000"/>
            <a:ext cx="4114800" cy="246888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352044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F2A43"/>
                </a:solidFill>
                <a:latin typeface="Calibri"/>
              </a:rPr>
              <a:t>Profile editor  ·  VIDEO_CALL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3977639"/>
            <a:ext cx="3749039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3977639"/>
            <a:ext cx="35661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B3C"/>
                </a:solidFill>
                <a:latin typeface="Consolas"/>
              </a:rPr>
              <a:t>downloadMbps  min  1.5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46120" y="4398263"/>
            <a:ext cx="3749039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0" y="4398263"/>
            <a:ext cx="35661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B3C"/>
                </a:solidFill>
                <a:latin typeface="Consolas"/>
              </a:rPr>
              <a:t>uploadMbps    min  1.0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4818887"/>
            <a:ext cx="3749039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3280" y="4818887"/>
            <a:ext cx="35661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B3C"/>
                </a:solidFill>
                <a:latin typeface="Consolas"/>
              </a:rPr>
              <a:t>latencyMs     max  200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5239511"/>
            <a:ext cx="3749039" cy="347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83280" y="5239511"/>
            <a:ext cx="356616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B3C"/>
                </a:solidFill>
                <a:latin typeface="Consolas"/>
              </a:rPr>
              <a:t>jitterMs      max  40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3429000"/>
            <a:ext cx="4114800" cy="246888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43800" y="352044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F2A43"/>
                </a:solidFill>
                <a:latin typeface="Calibri"/>
              </a:rPr>
              <a:t>Latency trend (7 days)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5029200"/>
            <a:ext cx="384048" cy="64008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65592" y="4754880"/>
            <a:ext cx="384048" cy="9144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95944" y="5120640"/>
            <a:ext cx="384048" cy="54864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226296" y="4480560"/>
            <a:ext cx="384048" cy="118872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56648" y="4846320"/>
            <a:ext cx="384048" cy="82296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287000" y="4297680"/>
            <a:ext cx="384048" cy="13716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817352" y="4663440"/>
            <a:ext cx="384048" cy="100584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63A5C"/>
                </a:solidFill>
                <a:latin typeface="Calibri"/>
              </a:rPr>
              <a:t>REQUIRED RESEARCH · DEVICE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Research — data we can read from an Android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A2B3C"/>
                </a:solidFill>
                <a:latin typeface="Calibri"/>
              </a:rPr>
              <a:t>What the platform lets us collect to understand network conditions (privacy-safe, no PII).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584448" cy="502920"/>
          </a:xfrm>
          <a:prstGeom prst="roundRect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Connectivity &amp;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06040"/>
            <a:ext cx="3273552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ConnectivityManager /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NetworkCapabilities: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  WIFI / CELLULAR, metered flag,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  up/down bandwidth hints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TelephonyManager: LTE/5G,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  carrier, SIM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96596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2544" y="1965960"/>
            <a:ext cx="3584448" cy="502920"/>
          </a:xfrm>
          <a:prstGeom prst="round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Signal &amp; radio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06040"/>
            <a:ext cx="3273552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SignalStrength /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CellSignalStrength: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  RSRP, RSRQ, dBm, level 0-4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WifiManager / WifiInfo: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  RSSI, link speed,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  frequency (2.4 / 5 GHz)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96596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9050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65008" y="1965960"/>
            <a:ext cx="3584448" cy="502920"/>
          </a:xfrm>
          <a:prstGeom prst="roundRect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Device &amp;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06040"/>
            <a:ext cx="3273552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Build: model, manufacturer,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  API level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Battery state, power-save mode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App foreground / background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B3C"/>
                </a:solidFill>
                <a:latin typeface="Consolas"/>
              </a:rPr>
              <a:t>Network-change callbacks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4924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1060704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0F2A43"/>
                </a:solidFill>
                <a:latin typeface="Calibri"/>
              </a:rPr>
              <a:t>Privacy: no precise location, no PII. Anonymous deviceId only — analytics correlate network conditions with outcomes, not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E55B5B"/>
                </a:solidFill>
                <a:latin typeface="Calibri"/>
              </a:rPr>
              <a:t>REQUIRED RESEARCH ·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Research — catch bugs &amp; upload before the app closes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A2B3C"/>
                </a:solidFill>
                <a:latin typeface="Calibri"/>
              </a:rPr>
              <a:t>A crash or a swipe-away kills the process before data is sent. The fix is persist-first, upload-later.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Catch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Thread.setDefaultUncaught-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ExceptionHandler grabs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uncaught exceptions + stack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27832" y="2834640"/>
            <a:ext cx="329184" cy="45720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29000" y="224028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Persist now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Write crash + last result to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local disk SYNCHRONOUSLY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(survives process death)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16752" y="2834640"/>
            <a:ext cx="329184" cy="45720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E8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Flush on stop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Lifecycle ON_STOP /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onTrimMemory → best-effort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flush of buffered results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05672" y="2834640"/>
            <a:ext cx="329184" cy="457200"/>
          </a:xfrm>
          <a:prstGeom prst="rightArrow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6840" y="2240280"/>
            <a:ext cx="2606040" cy="1691640"/>
          </a:xfrm>
          <a:prstGeom prst="roundRect">
            <a:avLst>
              <a:gd name="adj" fmla="val 10000"/>
            </a:avLst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Retry upload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WorkManager re-sends on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next launch / network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Calibri"/>
              </a:rPr>
              <a:t>→ guaranteed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792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 dirty="0">
                <a:solidFill>
                  <a:srgbClr val="0F2A43"/>
                </a:solidFill>
                <a:latin typeface="Calibri"/>
              </a:rPr>
              <a:t>Also handled: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dirty="0">
                <a:solidFill>
                  <a:srgbClr val="1A2B3C"/>
                </a:solidFill>
                <a:latin typeface="Calibri"/>
              </a:rPr>
              <a:t>•  In-flight test state saved, so a test interrupted by a crash isn't reported as a false failure</a:t>
            </a:r>
          </a:p>
          <a:p>
            <a:pPr algn="l">
              <a:spcBef>
                <a:spcPts val="0"/>
              </a:spcBef>
            </a:pPr>
            <a:r>
              <a:rPr sz="1250" b="0" i="0" dirty="0">
                <a:solidFill>
                  <a:srgbClr val="1A2B3C"/>
                </a:solidFill>
                <a:latin typeface="Calibri"/>
              </a:rPr>
              <a:t>•  Bounded local queue + exponential backoff so retries never drain battery or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63A5C"/>
                </a:solidFill>
                <a:latin typeface="Calibri"/>
              </a:rPr>
              <a:t>HOW WE'LL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Tech stack (proposed)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7280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8900" marR="63500" marT="38100" marB="38100" anchor="ctr"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SDK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iOS (Swift), Android (Kotlin)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Shared core (Kotlin Multiplatform) TBD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Measurement server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Node.js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Simple streaming; Go is the scale path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API server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Node.js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Keep simple; can split out later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Postgres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jsonb thresholds + optional history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HTTPS (+ UDP/WebRTC)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HTTPS for speed/ping; UDP for packet loss</a:t>
                      </a:r>
                    </a:p>
                  </a:txBody>
                  <a:tcPr marL="88900" marR="63500" marT="25400" marB="25400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Hosting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Cloud region near users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B3C"/>
                          </a:solidFill>
                          <a:latin typeface="Calibri"/>
                        </a:rPr>
                        <a:t>Low, consistent measurement latency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21208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1060704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Light, efficient, resilient — measure the connection, decide on-device, and store only what's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A8C9"/>
                </a:solidFill>
                <a:latin typeface="Calibri"/>
              </a:rPr>
              <a:t>WHO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66928"/>
            <a:ext cx="113385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 i="0">
                <a:solidFill>
                  <a:srgbClr val="0F2A43"/>
                </a:solidFill>
                <a:latin typeface="Calibri"/>
              </a:rPr>
              <a:t>Applications that can use PingIt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1155680" cy="25400"/>
          </a:xfrm>
          <a:prstGeom prst="rect">
            <a:avLst/>
          </a:prstGeom>
          <a:solidFill>
            <a:srgbClr val="E6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048256"/>
            <a:ext cx="566928" cy="566928"/>
          </a:xfrm>
          <a:prstGeom prst="ellipse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37944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Messaging / chat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Check the link before sync; warn on dead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91640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35424" y="2048256"/>
            <a:ext cx="566928" cy="566928"/>
          </a:xfrm>
          <a:prstGeom prst="ellipse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6944" y="1837944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VoIP / calling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Warn before a weak voice or video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91640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47888" y="2048256"/>
            <a:ext cx="566928" cy="566928"/>
          </a:xfrm>
          <a:prstGeom prst="ellipse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837944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Video streaming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Pick HD vs SD from measured download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36392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3493008"/>
            <a:ext cx="566928" cy="566928"/>
          </a:xfrm>
          <a:prstGeom prst="ellipse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82696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Cloud / file backup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Defer big uploads until the link is strong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3136392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35424" y="3493008"/>
            <a:ext cx="566928" cy="566928"/>
          </a:xfrm>
          <a:prstGeom prst="ellipse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282696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Cloud gaming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Gate on ultra-low latency &amp; jitter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3136392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47888" y="3493008"/>
            <a:ext cx="566928" cy="566928"/>
          </a:xfrm>
          <a:prstGeom prst="ellipse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282696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Live broadcasting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Check upload before going live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81144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2EB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" y="4937760"/>
            <a:ext cx="566928" cy="566928"/>
          </a:xfrm>
          <a:prstGeom prst="ellipse">
            <a:avLst/>
          </a:prstGeom>
          <a:solidFill>
            <a:srgbClr val="2EB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27448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Telehealth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Video visits — check call quality first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2544" y="4581144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1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35424" y="4937760"/>
            <a:ext cx="566928" cy="566928"/>
          </a:xfrm>
          <a:prstGeom prst="ellipse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4727448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IoT / field apps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Confirm the link before sending sensor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4581144"/>
            <a:ext cx="3584448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5875">
            <a:solidFill>
              <a:srgbClr val="147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47888" y="4937760"/>
            <a:ext cx="566928" cy="566928"/>
          </a:xfrm>
          <a:prstGeom prst="ellipse">
            <a:avLst/>
          </a:prstGeom>
          <a:solidFill>
            <a:srgbClr val="147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alibri"/>
              </a:rPr>
              <a:t>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4727448"/>
            <a:ext cx="2487168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F2A43"/>
                </a:solidFill>
                <a:latin typeface="Calibri"/>
              </a:rPr>
              <a:t>Maps / navigation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6B7C8D"/>
                </a:solidFill>
                <a:latin typeface="Calibri"/>
              </a:rPr>
              <a:t>Weak data → switch to offline tiles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55664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7C8D"/>
                </a:solidFill>
                <a:latin typeface="Calibri"/>
              </a:rPr>
              <a:t>PingIt SDK   · 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2938</Words>
  <Application>Microsoft Macintosh PowerPoint</Application>
  <PresentationFormat>Widescreen</PresentationFormat>
  <Paragraphs>531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 Bitran</cp:lastModifiedBy>
  <cp:revision>6</cp:revision>
  <dcterms:created xsi:type="dcterms:W3CDTF">2013-01-27T09:14:16Z</dcterms:created>
  <dcterms:modified xsi:type="dcterms:W3CDTF">2026-06-16T13:06:29Z</dcterms:modified>
  <cp:category/>
</cp:coreProperties>
</file>